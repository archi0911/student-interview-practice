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1" r:id="rId9"/>
    <p:sldId id="263" r:id="rId10"/>
    <p:sldId id="264" r:id="rId11"/>
    <p:sldId id="273" r:id="rId12"/>
    <p:sldId id="277" r:id="rId13"/>
  </p:sldIdLst>
  <p:sldSz cx="18288000" cy="10287000"/>
  <p:notesSz cx="6858000" cy="9144000"/>
  <p:embeddedFontLst>
    <p:embeddedFont>
      <p:font typeface="Be Vietnam" panose="020B0604020202020204" charset="0"/>
      <p:regular r:id="rId14"/>
    </p:embeddedFont>
    <p:embeddedFont>
      <p:font typeface="Be Vietnam Ultra-Bold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4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29.png"/><Relationship Id="rId5" Type="http://schemas.openxmlformats.org/officeDocument/2006/relationships/image" Target="../media/image8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7.jpe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3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svg"/><Relationship Id="rId5" Type="http://schemas.openxmlformats.org/officeDocument/2006/relationships/image" Target="../media/image8.sv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3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eraser.io/workspace/UPvCvAJeMHVWB950WKNU?origin=share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7318" y="3190603"/>
            <a:ext cx="13133365" cy="338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AICRUITER - AI VOICE AGENT INTERVIEW PLATFORM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987333" y="7429500"/>
            <a:ext cx="6313334" cy="2352961"/>
            <a:chOff x="0" y="10260"/>
            <a:chExt cx="8417779" cy="3137282"/>
          </a:xfrm>
        </p:grpSpPr>
        <p:sp>
          <p:nvSpPr>
            <p:cNvPr id="4" name="TextBox 4"/>
            <p:cNvSpPr txBox="1"/>
            <p:nvPr/>
          </p:nvSpPr>
          <p:spPr>
            <a:xfrm>
              <a:off x="872049" y="10260"/>
              <a:ext cx="3134520" cy="623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2"/>
                </a:lnSpc>
                <a:spcBef>
                  <a:spcPct val="0"/>
                </a:spcBef>
              </a:pPr>
              <a:r>
                <a:rPr lang="en-US" sz="2787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Presented By,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39633"/>
              <a:ext cx="4006569" cy="2407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22"/>
                </a:lnSpc>
              </a:pPr>
              <a:r>
                <a:rPr lang="en-US" sz="2587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Archi Prajapati</a:t>
              </a:r>
            </a:p>
            <a:p>
              <a:pPr algn="r">
                <a:lnSpc>
                  <a:spcPts val="3622"/>
                </a:lnSpc>
              </a:pPr>
              <a:r>
                <a:rPr lang="en-US" sz="2587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Hitanshu Purohit</a:t>
              </a:r>
            </a:p>
            <a:p>
              <a:pPr algn="r">
                <a:lnSpc>
                  <a:spcPts val="3622"/>
                </a:lnSpc>
              </a:pPr>
              <a:r>
                <a:rPr lang="en-US" sz="2587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Fiza Pathan</a:t>
              </a:r>
            </a:p>
            <a:p>
              <a:pPr algn="r">
                <a:lnSpc>
                  <a:spcPts val="3622"/>
                </a:lnSpc>
                <a:spcBef>
                  <a:spcPct val="0"/>
                </a:spcBef>
              </a:pPr>
              <a:r>
                <a:rPr lang="en-US" sz="2587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Mahi Prajapati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11210" y="739633"/>
              <a:ext cx="4006569" cy="2407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2"/>
                </a:lnSpc>
              </a:pPr>
              <a:r>
                <a:rPr lang="en-US" sz="2587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22000378</a:t>
              </a:r>
            </a:p>
            <a:p>
              <a:pPr algn="l">
                <a:lnSpc>
                  <a:spcPts val="3622"/>
                </a:lnSpc>
              </a:pPr>
              <a:r>
                <a:rPr lang="en-US" sz="2587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22000386</a:t>
              </a:r>
            </a:p>
            <a:p>
              <a:pPr algn="l">
                <a:lnSpc>
                  <a:spcPts val="3622"/>
                </a:lnSpc>
              </a:pPr>
              <a:r>
                <a:rPr lang="en-US" sz="2587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22000986</a:t>
              </a:r>
            </a:p>
            <a:p>
              <a:pPr algn="l">
                <a:lnSpc>
                  <a:spcPts val="3622"/>
                </a:lnSpc>
                <a:spcBef>
                  <a:spcPct val="0"/>
                </a:spcBef>
              </a:pPr>
              <a:r>
                <a:rPr lang="en-US" sz="2587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22000996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40480" y="665171"/>
            <a:ext cx="2207039" cy="36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  <a:spcBef>
                <a:spcPct val="0"/>
              </a:spcBef>
            </a:pPr>
            <a:r>
              <a:rPr lang="en-US" sz="2187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610" y="-4531664"/>
            <a:ext cx="6493424" cy="7086957"/>
          </a:xfrm>
          <a:custGeom>
            <a:avLst/>
            <a:gdLst/>
            <a:ahLst/>
            <a:cxnLst/>
            <a:rect l="l" t="t" r="r" b="b"/>
            <a:pathLst>
              <a:path w="6493424" h="7086957">
                <a:moveTo>
                  <a:pt x="0" y="0"/>
                </a:moveTo>
                <a:lnTo>
                  <a:pt x="6493424" y="0"/>
                </a:lnTo>
                <a:lnTo>
                  <a:pt x="6493424" y="7086956"/>
                </a:lnTo>
                <a:lnTo>
                  <a:pt x="0" y="7086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201400" y="193894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97214" y="8870112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743474" y="1257923"/>
            <a:ext cx="8333789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9"/>
              </a:lnSpc>
              <a:spcBef>
                <a:spcPct val="0"/>
              </a:spcBef>
            </a:pPr>
            <a:r>
              <a:rPr lang="en-US" sz="6699" b="1" dirty="0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26268" y="2464265"/>
            <a:ext cx="6933144" cy="693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In today's competitive job market, communication and interview skills are as vital as technical expertise.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The platform uses AI, NLP, and speech recognition to simulate real-time, human-like interviews.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Candidates engage with an AI interviewer that listens, asks relevant questions, and provides personalized feedback on clarity, tone, and content.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Organizations and academic institutions benefit from efficient, unbiased candidate screening.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The system uses modular architecture and AI-driven analytics to enhance career preparation.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728674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953912" y="2071603"/>
            <a:ext cx="5922476" cy="1160784"/>
            <a:chOff x="0" y="0"/>
            <a:chExt cx="2073507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28674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08962" y="3792606"/>
            <a:ext cx="5922476" cy="1160784"/>
            <a:chOff x="0" y="0"/>
            <a:chExt cx="2073507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28674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53912" y="5453571"/>
            <a:ext cx="5922476" cy="1160784"/>
            <a:chOff x="0" y="0"/>
            <a:chExt cx="2073507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28674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53912" y="7297511"/>
            <a:ext cx="5922476" cy="1160784"/>
            <a:chOff x="0" y="0"/>
            <a:chExt cx="2073507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28674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2217754" y="2307723"/>
            <a:ext cx="688545" cy="688545"/>
          </a:xfrm>
          <a:custGeom>
            <a:avLst/>
            <a:gdLst/>
            <a:ahLst/>
            <a:cxnLst/>
            <a:rect l="l" t="t" r="r" b="b"/>
            <a:pathLst>
              <a:path w="688545" h="688545">
                <a:moveTo>
                  <a:pt x="0" y="0"/>
                </a:moveTo>
                <a:lnTo>
                  <a:pt x="688544" y="0"/>
                </a:lnTo>
                <a:lnTo>
                  <a:pt x="688544" y="688544"/>
                </a:lnTo>
                <a:lnTo>
                  <a:pt x="0" y="688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2272804" y="4028726"/>
            <a:ext cx="688545" cy="688545"/>
          </a:xfrm>
          <a:custGeom>
            <a:avLst/>
            <a:gdLst/>
            <a:ahLst/>
            <a:cxnLst/>
            <a:rect l="l" t="t" r="r" b="b"/>
            <a:pathLst>
              <a:path w="688545" h="688545">
                <a:moveTo>
                  <a:pt x="0" y="0"/>
                </a:moveTo>
                <a:lnTo>
                  <a:pt x="688544" y="0"/>
                </a:lnTo>
                <a:lnTo>
                  <a:pt x="688544" y="688544"/>
                </a:lnTo>
                <a:lnTo>
                  <a:pt x="0" y="688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2217754" y="5689691"/>
            <a:ext cx="688545" cy="688545"/>
          </a:xfrm>
          <a:custGeom>
            <a:avLst/>
            <a:gdLst/>
            <a:ahLst/>
            <a:cxnLst/>
            <a:rect l="l" t="t" r="r" b="b"/>
            <a:pathLst>
              <a:path w="688545" h="688545">
                <a:moveTo>
                  <a:pt x="0" y="0"/>
                </a:moveTo>
                <a:lnTo>
                  <a:pt x="688544" y="0"/>
                </a:lnTo>
                <a:lnTo>
                  <a:pt x="688544" y="688545"/>
                </a:lnTo>
                <a:lnTo>
                  <a:pt x="0" y="688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5400000">
            <a:off x="2217754" y="7533631"/>
            <a:ext cx="688545" cy="688545"/>
          </a:xfrm>
          <a:custGeom>
            <a:avLst/>
            <a:gdLst/>
            <a:ahLst/>
            <a:cxnLst/>
            <a:rect l="l" t="t" r="r" b="b"/>
            <a:pathLst>
              <a:path w="688545" h="688545">
                <a:moveTo>
                  <a:pt x="0" y="0"/>
                </a:moveTo>
                <a:lnTo>
                  <a:pt x="688544" y="0"/>
                </a:lnTo>
                <a:lnTo>
                  <a:pt x="688544" y="688544"/>
                </a:lnTo>
                <a:lnTo>
                  <a:pt x="0" y="688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968949" y="2319346"/>
            <a:ext cx="4675232" cy="5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  <a:spcBef>
                <a:spcPct val="0"/>
              </a:spcBef>
            </a:pPr>
            <a:r>
              <a:rPr lang="en-US" sz="3526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Virtual assistants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23999" y="4040349"/>
            <a:ext cx="4675232" cy="5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  <a:spcBef>
                <a:spcPct val="0"/>
              </a:spcBef>
            </a:pPr>
            <a:r>
              <a:rPr lang="en-US" sz="3526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Response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68949" y="5701315"/>
            <a:ext cx="4255012" cy="5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  <a:spcBef>
                <a:spcPct val="0"/>
              </a:spcBef>
            </a:pPr>
            <a:r>
              <a:rPr lang="en-US" sz="3526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Instant Feedback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68949" y="7545254"/>
            <a:ext cx="4675232" cy="5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  <a:spcBef>
                <a:spcPct val="0"/>
              </a:spcBef>
            </a:pPr>
            <a:r>
              <a:rPr lang="en-US" sz="3526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Personalized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59431" y="8995175"/>
            <a:ext cx="6545853" cy="952124"/>
          </a:xfrm>
          <a:custGeom>
            <a:avLst/>
            <a:gdLst/>
            <a:ahLst/>
            <a:cxnLst/>
            <a:rect l="l" t="t" r="r" b="b"/>
            <a:pathLst>
              <a:path w="6545853" h="952124">
                <a:moveTo>
                  <a:pt x="0" y="0"/>
                </a:moveTo>
                <a:lnTo>
                  <a:pt x="6545853" y="0"/>
                </a:lnTo>
                <a:lnTo>
                  <a:pt x="6545853" y="952124"/>
                </a:lnTo>
                <a:lnTo>
                  <a:pt x="0" y="952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57054" y="1541532"/>
            <a:ext cx="8573892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9"/>
              </a:lnSpc>
              <a:spcBef>
                <a:spcPct val="0"/>
              </a:spcBef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BRIDGING THE GAP</a:t>
            </a:r>
          </a:p>
        </p:txBody>
      </p:sp>
      <p:sp>
        <p:nvSpPr>
          <p:cNvPr id="4" name="Freeform 4"/>
          <p:cNvSpPr/>
          <p:nvPr/>
        </p:nvSpPr>
        <p:spPr>
          <a:xfrm>
            <a:off x="14985545" y="-495548"/>
            <a:ext cx="4130289" cy="4114800"/>
          </a:xfrm>
          <a:custGeom>
            <a:avLst/>
            <a:gdLst/>
            <a:ahLst/>
            <a:cxnLst/>
            <a:rect l="l" t="t" r="r" b="b"/>
            <a:pathLst>
              <a:path w="4130289" h="4114800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507263" y="4587394"/>
            <a:ext cx="5240438" cy="2977384"/>
            <a:chOff x="0" y="0"/>
            <a:chExt cx="792251" cy="4501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2251" cy="450122"/>
            </a:xfrm>
            <a:custGeom>
              <a:avLst/>
              <a:gdLst/>
              <a:ahLst/>
              <a:cxnLst/>
              <a:rect l="l" t="t" r="r" b="b"/>
              <a:pathLst>
                <a:path w="792251" h="450122">
                  <a:moveTo>
                    <a:pt x="130294" y="0"/>
                  </a:moveTo>
                  <a:lnTo>
                    <a:pt x="661956" y="0"/>
                  </a:lnTo>
                  <a:cubicBezTo>
                    <a:pt x="733916" y="0"/>
                    <a:pt x="792251" y="58335"/>
                    <a:pt x="792251" y="130294"/>
                  </a:cubicBezTo>
                  <a:lnTo>
                    <a:pt x="792251" y="319827"/>
                  </a:lnTo>
                  <a:cubicBezTo>
                    <a:pt x="792251" y="391787"/>
                    <a:pt x="733916" y="450122"/>
                    <a:pt x="661956" y="450122"/>
                  </a:cubicBezTo>
                  <a:lnTo>
                    <a:pt x="130294" y="450122"/>
                  </a:lnTo>
                  <a:cubicBezTo>
                    <a:pt x="95738" y="450122"/>
                    <a:pt x="62597" y="436394"/>
                    <a:pt x="38162" y="411959"/>
                  </a:cubicBezTo>
                  <a:cubicBezTo>
                    <a:pt x="13727" y="387524"/>
                    <a:pt x="0" y="354384"/>
                    <a:pt x="0" y="319827"/>
                  </a:cubicBezTo>
                  <a:lnTo>
                    <a:pt x="0" y="130294"/>
                  </a:lnTo>
                  <a:cubicBezTo>
                    <a:pt x="0" y="58335"/>
                    <a:pt x="58335" y="0"/>
                    <a:pt x="1302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596D5B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92251" cy="478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85135" y="4587394"/>
            <a:ext cx="5836145" cy="2977384"/>
            <a:chOff x="0" y="0"/>
            <a:chExt cx="882310" cy="4501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2310" cy="450122"/>
            </a:xfrm>
            <a:custGeom>
              <a:avLst/>
              <a:gdLst/>
              <a:ahLst/>
              <a:cxnLst/>
              <a:rect l="l" t="t" r="r" b="b"/>
              <a:pathLst>
                <a:path w="882310" h="450122">
                  <a:moveTo>
                    <a:pt x="116995" y="0"/>
                  </a:moveTo>
                  <a:lnTo>
                    <a:pt x="765315" y="0"/>
                  </a:lnTo>
                  <a:cubicBezTo>
                    <a:pt x="796344" y="0"/>
                    <a:pt x="826102" y="12326"/>
                    <a:pt x="848043" y="34267"/>
                  </a:cubicBezTo>
                  <a:cubicBezTo>
                    <a:pt x="869983" y="56208"/>
                    <a:pt x="882310" y="85966"/>
                    <a:pt x="882310" y="116995"/>
                  </a:cubicBezTo>
                  <a:lnTo>
                    <a:pt x="882310" y="333127"/>
                  </a:lnTo>
                  <a:cubicBezTo>
                    <a:pt x="882310" y="397741"/>
                    <a:pt x="829929" y="450122"/>
                    <a:pt x="765315" y="450122"/>
                  </a:cubicBezTo>
                  <a:lnTo>
                    <a:pt x="116995" y="450122"/>
                  </a:lnTo>
                  <a:cubicBezTo>
                    <a:pt x="85966" y="450122"/>
                    <a:pt x="56208" y="437795"/>
                    <a:pt x="34267" y="415855"/>
                  </a:cubicBezTo>
                  <a:cubicBezTo>
                    <a:pt x="12326" y="393914"/>
                    <a:pt x="0" y="364156"/>
                    <a:pt x="0" y="333127"/>
                  </a:cubicBezTo>
                  <a:lnTo>
                    <a:pt x="0" y="116995"/>
                  </a:lnTo>
                  <a:cubicBezTo>
                    <a:pt x="0" y="52380"/>
                    <a:pt x="52380" y="0"/>
                    <a:pt x="116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596D5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82310" cy="478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667166" y="5364370"/>
            <a:ext cx="640878" cy="640878"/>
          </a:xfrm>
          <a:custGeom>
            <a:avLst/>
            <a:gdLst/>
            <a:ahLst/>
            <a:cxnLst/>
            <a:rect l="l" t="t" r="r" b="b"/>
            <a:pathLst>
              <a:path w="640878" h="640878">
                <a:moveTo>
                  <a:pt x="0" y="0"/>
                </a:moveTo>
                <a:lnTo>
                  <a:pt x="640878" y="0"/>
                </a:lnTo>
                <a:lnTo>
                  <a:pt x="640878" y="640877"/>
                </a:lnTo>
                <a:lnTo>
                  <a:pt x="0" y="64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2129429" y="5364370"/>
            <a:ext cx="640878" cy="640878"/>
          </a:xfrm>
          <a:custGeom>
            <a:avLst/>
            <a:gdLst/>
            <a:ahLst/>
            <a:cxnLst/>
            <a:rect l="l" t="t" r="r" b="b"/>
            <a:pathLst>
              <a:path w="640878" h="640878">
                <a:moveTo>
                  <a:pt x="0" y="0"/>
                </a:moveTo>
                <a:lnTo>
                  <a:pt x="640877" y="0"/>
                </a:lnTo>
                <a:lnTo>
                  <a:pt x="640877" y="640877"/>
                </a:lnTo>
                <a:lnTo>
                  <a:pt x="0" y="64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507263" y="3619252"/>
            <a:ext cx="4128519" cy="809175"/>
            <a:chOff x="0" y="0"/>
            <a:chExt cx="2073507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85135" y="3619252"/>
            <a:ext cx="4128519" cy="809175"/>
            <a:chOff x="0" y="0"/>
            <a:chExt cx="2073507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6651557" y="3783849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80" y="0"/>
                </a:lnTo>
                <a:lnTo>
                  <a:pt x="479980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2129429" y="3783849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80" y="0"/>
                </a:lnTo>
                <a:lnTo>
                  <a:pt x="479980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549313" y="4788112"/>
            <a:ext cx="3684585" cy="242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Existing tools lack voice interactivity and real interview pressure simulation, leading to poor candidate preparation.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84606" y="4834467"/>
            <a:ext cx="4538282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Create an intelligent system that conducts voice interviews, analyzes responses, and provides instant feedback to improve candidate performance and reduce manual screening.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4839" y="3790806"/>
            <a:ext cx="3259073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 dirty="0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Problem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92711" y="3790806"/>
            <a:ext cx="3259073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Objective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28700" y="4587394"/>
            <a:ext cx="5240438" cy="2977384"/>
            <a:chOff x="0" y="0"/>
            <a:chExt cx="792251" cy="45012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2251" cy="450122"/>
            </a:xfrm>
            <a:custGeom>
              <a:avLst/>
              <a:gdLst/>
              <a:ahLst/>
              <a:cxnLst/>
              <a:rect l="l" t="t" r="r" b="b"/>
              <a:pathLst>
                <a:path w="792251" h="450122">
                  <a:moveTo>
                    <a:pt x="130294" y="0"/>
                  </a:moveTo>
                  <a:lnTo>
                    <a:pt x="661956" y="0"/>
                  </a:lnTo>
                  <a:cubicBezTo>
                    <a:pt x="733916" y="0"/>
                    <a:pt x="792251" y="58335"/>
                    <a:pt x="792251" y="130294"/>
                  </a:cubicBezTo>
                  <a:lnTo>
                    <a:pt x="792251" y="319827"/>
                  </a:lnTo>
                  <a:cubicBezTo>
                    <a:pt x="792251" y="391787"/>
                    <a:pt x="733916" y="450122"/>
                    <a:pt x="661956" y="450122"/>
                  </a:cubicBezTo>
                  <a:lnTo>
                    <a:pt x="130294" y="450122"/>
                  </a:lnTo>
                  <a:cubicBezTo>
                    <a:pt x="95738" y="450122"/>
                    <a:pt x="62597" y="436394"/>
                    <a:pt x="38162" y="411959"/>
                  </a:cubicBezTo>
                  <a:cubicBezTo>
                    <a:pt x="13727" y="387524"/>
                    <a:pt x="0" y="354384"/>
                    <a:pt x="0" y="319827"/>
                  </a:cubicBezTo>
                  <a:lnTo>
                    <a:pt x="0" y="130294"/>
                  </a:lnTo>
                  <a:cubicBezTo>
                    <a:pt x="0" y="58335"/>
                    <a:pt x="58335" y="0"/>
                    <a:pt x="1302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596D5B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792251" cy="478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5400000">
            <a:off x="1191747" y="5364370"/>
            <a:ext cx="640878" cy="640878"/>
          </a:xfrm>
          <a:custGeom>
            <a:avLst/>
            <a:gdLst/>
            <a:ahLst/>
            <a:cxnLst/>
            <a:rect l="l" t="t" r="r" b="b"/>
            <a:pathLst>
              <a:path w="640878" h="640878">
                <a:moveTo>
                  <a:pt x="0" y="0"/>
                </a:moveTo>
                <a:lnTo>
                  <a:pt x="640878" y="0"/>
                </a:lnTo>
                <a:lnTo>
                  <a:pt x="640878" y="640877"/>
                </a:lnTo>
                <a:lnTo>
                  <a:pt x="0" y="64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028700" y="3562357"/>
            <a:ext cx="4128519" cy="866070"/>
            <a:chOff x="0" y="-28575"/>
            <a:chExt cx="2073507" cy="4349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07350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5400000">
            <a:off x="1170571" y="3838431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80" y="0"/>
                </a:lnTo>
                <a:lnTo>
                  <a:pt x="479980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2070750" y="4788112"/>
            <a:ext cx="3528074" cy="242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Develop an AI-powered voice-based interview platform for realistic interview simulations using AI and speech technologies.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36276" y="3790806"/>
            <a:ext cx="3259073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 dirty="0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0" y="1162050"/>
            <a:ext cx="6713621" cy="173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9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WHY AI VOICE AGENTS?</a:t>
            </a:r>
          </a:p>
        </p:txBody>
      </p:sp>
      <p:sp>
        <p:nvSpPr>
          <p:cNvPr id="3" name="Freeform 3"/>
          <p:cNvSpPr/>
          <p:nvPr/>
        </p:nvSpPr>
        <p:spPr>
          <a:xfrm>
            <a:off x="15468600" y="-488700"/>
            <a:ext cx="4130289" cy="4114800"/>
          </a:xfrm>
          <a:custGeom>
            <a:avLst/>
            <a:gdLst/>
            <a:ahLst/>
            <a:cxnLst/>
            <a:rect l="l" t="t" r="r" b="b"/>
            <a:pathLst>
              <a:path w="4130289" h="4114800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1525740" y="4658344"/>
            <a:ext cx="7032523" cy="4894083"/>
            <a:chOff x="0" y="0"/>
            <a:chExt cx="9376697" cy="652544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376697" cy="1741247"/>
              <a:chOff x="0" y="0"/>
              <a:chExt cx="2188484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8848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88483" h="406400">
                    <a:moveTo>
                      <a:pt x="1985283" y="0"/>
                    </a:moveTo>
                    <a:cubicBezTo>
                      <a:pt x="2097508" y="0"/>
                      <a:pt x="2188483" y="90976"/>
                      <a:pt x="2188483" y="203200"/>
                    </a:cubicBezTo>
                    <a:cubicBezTo>
                      <a:pt x="2188483" y="315424"/>
                      <a:pt x="2097508" y="406400"/>
                      <a:pt x="198528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2188484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2395251"/>
              <a:ext cx="9376697" cy="1741247"/>
              <a:chOff x="0" y="0"/>
              <a:chExt cx="2188484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48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88483" h="406400">
                    <a:moveTo>
                      <a:pt x="1985283" y="0"/>
                    </a:moveTo>
                    <a:cubicBezTo>
                      <a:pt x="2097508" y="0"/>
                      <a:pt x="2188483" y="90976"/>
                      <a:pt x="2188483" y="203200"/>
                    </a:cubicBezTo>
                    <a:cubicBezTo>
                      <a:pt x="2188483" y="315424"/>
                      <a:pt x="2097508" y="406400"/>
                      <a:pt x="198528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2188484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 rot="5400000">
              <a:off x="513550" y="530969"/>
              <a:ext cx="679309" cy="679309"/>
            </a:xfrm>
            <a:custGeom>
              <a:avLst/>
              <a:gdLst/>
              <a:ahLst/>
              <a:cxnLst/>
              <a:rect l="l" t="t" r="r" b="b"/>
              <a:pathLst>
                <a:path w="679309" h="679309">
                  <a:moveTo>
                    <a:pt x="0" y="0"/>
                  </a:moveTo>
                  <a:lnTo>
                    <a:pt x="679310" y="0"/>
                  </a:lnTo>
                  <a:lnTo>
                    <a:pt x="679310" y="679309"/>
                  </a:lnTo>
                  <a:lnTo>
                    <a:pt x="0" y="679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5400000">
              <a:off x="513550" y="2926220"/>
              <a:ext cx="679309" cy="679309"/>
            </a:xfrm>
            <a:custGeom>
              <a:avLst/>
              <a:gdLst/>
              <a:ahLst/>
              <a:cxnLst/>
              <a:rect l="l" t="t" r="r" b="b"/>
              <a:pathLst>
                <a:path w="679309" h="679309">
                  <a:moveTo>
                    <a:pt x="0" y="0"/>
                  </a:moveTo>
                  <a:lnTo>
                    <a:pt x="679310" y="0"/>
                  </a:lnTo>
                  <a:lnTo>
                    <a:pt x="679310" y="679309"/>
                  </a:lnTo>
                  <a:lnTo>
                    <a:pt x="0" y="679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636023" y="208608"/>
              <a:ext cx="6951444" cy="1291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03"/>
                </a:lnSpc>
                <a:spcBef>
                  <a:spcPct val="0"/>
                </a:spcBef>
              </a:pPr>
              <a:r>
                <a:rPr lang="en-US" sz="1859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AI advances enable human-like conversational systems for interview practice, helping reduce anxiety and improve skills.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6023" y="2603859"/>
              <a:ext cx="6951444" cy="1291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03"/>
                </a:lnSpc>
                <a:spcBef>
                  <a:spcPct val="0"/>
                </a:spcBef>
              </a:pPr>
              <a:r>
                <a:rPr lang="en-US" sz="1859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The project bridges the gap between theoretical knowledge and practical communication skills.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4784198"/>
              <a:ext cx="9376697" cy="1741247"/>
              <a:chOff x="0" y="0"/>
              <a:chExt cx="2188484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18848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88483" h="406400">
                    <a:moveTo>
                      <a:pt x="1985283" y="0"/>
                    </a:moveTo>
                    <a:cubicBezTo>
                      <a:pt x="2097508" y="0"/>
                      <a:pt x="2188483" y="90976"/>
                      <a:pt x="2188483" y="203200"/>
                    </a:cubicBezTo>
                    <a:cubicBezTo>
                      <a:pt x="2188483" y="315424"/>
                      <a:pt x="2097508" y="406400"/>
                      <a:pt x="198528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2188484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 rot="5400000">
              <a:off x="513550" y="5315167"/>
              <a:ext cx="679309" cy="679309"/>
            </a:xfrm>
            <a:custGeom>
              <a:avLst/>
              <a:gdLst/>
              <a:ahLst/>
              <a:cxnLst/>
              <a:rect l="l" t="t" r="r" b="b"/>
              <a:pathLst>
                <a:path w="679309" h="679309">
                  <a:moveTo>
                    <a:pt x="0" y="0"/>
                  </a:moveTo>
                  <a:lnTo>
                    <a:pt x="679310" y="0"/>
                  </a:lnTo>
                  <a:lnTo>
                    <a:pt x="679310" y="679309"/>
                  </a:lnTo>
                  <a:lnTo>
                    <a:pt x="0" y="679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636023" y="4992806"/>
              <a:ext cx="6951444" cy="1291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03"/>
                </a:lnSpc>
                <a:spcBef>
                  <a:spcPct val="0"/>
                </a:spcBef>
              </a:pPr>
              <a:r>
                <a:rPr lang="en-US" sz="1859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It offers an easily accessible, voice-based system for practice and efficient screening.</a:t>
              </a:r>
            </a:p>
            <a:p>
              <a:pPr algn="just">
                <a:lnSpc>
                  <a:spcPts val="2603"/>
                </a:lnSpc>
                <a:spcBef>
                  <a:spcPct val="0"/>
                </a:spcBef>
              </a:pPr>
              <a:endParaRPr lang="en-US" sz="1859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7105" y="1178268"/>
            <a:ext cx="7141158" cy="2549044"/>
            <a:chOff x="0" y="0"/>
            <a:chExt cx="1469374" cy="5244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9374" cy="524495"/>
            </a:xfrm>
            <a:custGeom>
              <a:avLst/>
              <a:gdLst/>
              <a:ahLst/>
              <a:cxnLst/>
              <a:rect l="l" t="t" r="r" b="b"/>
              <a:pathLst>
                <a:path w="1469374" h="524495">
                  <a:moveTo>
                    <a:pt x="21174" y="0"/>
                  </a:moveTo>
                  <a:lnTo>
                    <a:pt x="1448200" y="0"/>
                  </a:lnTo>
                  <a:cubicBezTo>
                    <a:pt x="1453816" y="0"/>
                    <a:pt x="1459201" y="2231"/>
                    <a:pt x="1463172" y="6202"/>
                  </a:cubicBezTo>
                  <a:cubicBezTo>
                    <a:pt x="1467143" y="10173"/>
                    <a:pt x="1469374" y="15559"/>
                    <a:pt x="1469374" y="21174"/>
                  </a:cubicBezTo>
                  <a:lnTo>
                    <a:pt x="1469374" y="503320"/>
                  </a:lnTo>
                  <a:cubicBezTo>
                    <a:pt x="1469374" y="515015"/>
                    <a:pt x="1459894" y="524495"/>
                    <a:pt x="1448200" y="524495"/>
                  </a:cubicBezTo>
                  <a:lnTo>
                    <a:pt x="21174" y="524495"/>
                  </a:lnTo>
                  <a:cubicBezTo>
                    <a:pt x="9480" y="524495"/>
                    <a:pt x="0" y="515015"/>
                    <a:pt x="0" y="503320"/>
                  </a:cubicBezTo>
                  <a:lnTo>
                    <a:pt x="0" y="21174"/>
                  </a:lnTo>
                  <a:cubicBezTo>
                    <a:pt x="0" y="9480"/>
                    <a:pt x="9480" y="0"/>
                    <a:pt x="21174" y="0"/>
                  </a:cubicBezTo>
                  <a:close/>
                </a:path>
              </a:pathLst>
            </a:custGeom>
            <a:solidFill>
              <a:srgbClr val="596D5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69374" cy="553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76376" y="3207832"/>
            <a:ext cx="8074314" cy="2911511"/>
            <a:chOff x="0" y="-47625"/>
            <a:chExt cx="10765752" cy="3882015"/>
          </a:xfrm>
        </p:grpSpPr>
        <p:sp>
          <p:nvSpPr>
            <p:cNvPr id="24" name="TextBox 24"/>
            <p:cNvSpPr txBox="1"/>
            <p:nvPr/>
          </p:nvSpPr>
          <p:spPr>
            <a:xfrm>
              <a:off x="0" y="602649"/>
              <a:ext cx="10765752" cy="3231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just">
                <a:lnSpc>
                  <a:spcPts val="3220"/>
                </a:lnSpc>
                <a:buFont typeface="Arial"/>
                <a:buChar char="•"/>
              </a:pPr>
              <a:r>
                <a:rPr lang="en-US" sz="2300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Traditional mock interviews require significant time and human involvement.</a:t>
              </a:r>
            </a:p>
            <a:p>
              <a:pPr marL="496571" lvl="1" indent="-248285" algn="just">
                <a:lnSpc>
                  <a:spcPts val="3220"/>
                </a:lnSpc>
                <a:buFont typeface="Arial"/>
                <a:buChar char="•"/>
              </a:pPr>
              <a:r>
                <a:rPr lang="en-US" sz="2300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Organizations spend excessive resources on initial screening rounds.</a:t>
              </a:r>
            </a:p>
            <a:p>
              <a:pPr marL="496571" lvl="1" indent="-248285" algn="just">
                <a:lnSpc>
                  <a:spcPts val="32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dirty="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Effective communication and interview confidence are critical for career success yet difficult to gain.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3499" y="-47625"/>
              <a:ext cx="5481602" cy="535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  <a:spcBef>
                  <a:spcPct val="0"/>
                </a:spcBef>
              </a:pPr>
              <a:r>
                <a:rPr lang="en-US" sz="2458" dirty="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TRADITIONAL CHALLENGES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13756" y="4063855"/>
            <a:ext cx="3428244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AI-DRIVEN SOLUTIONS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30231" y="6425562"/>
            <a:ext cx="8329069" cy="3054771"/>
            <a:chOff x="0" y="0"/>
            <a:chExt cx="1713800" cy="62855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13800" cy="628554"/>
            </a:xfrm>
            <a:custGeom>
              <a:avLst/>
              <a:gdLst/>
              <a:ahLst/>
              <a:cxnLst/>
              <a:rect l="l" t="t" r="r" b="b"/>
              <a:pathLst>
                <a:path w="1713800" h="628554">
                  <a:moveTo>
                    <a:pt x="18154" y="0"/>
                  </a:moveTo>
                  <a:lnTo>
                    <a:pt x="1695646" y="0"/>
                  </a:lnTo>
                  <a:cubicBezTo>
                    <a:pt x="1705672" y="0"/>
                    <a:pt x="1713800" y="8128"/>
                    <a:pt x="1713800" y="18154"/>
                  </a:cubicBezTo>
                  <a:lnTo>
                    <a:pt x="1713800" y="610399"/>
                  </a:lnTo>
                  <a:cubicBezTo>
                    <a:pt x="1713800" y="615214"/>
                    <a:pt x="1711887" y="619832"/>
                    <a:pt x="1708483" y="623236"/>
                  </a:cubicBezTo>
                  <a:cubicBezTo>
                    <a:pt x="1705078" y="626641"/>
                    <a:pt x="1700461" y="628554"/>
                    <a:pt x="1695646" y="628554"/>
                  </a:cubicBezTo>
                  <a:lnTo>
                    <a:pt x="18154" y="628554"/>
                  </a:lnTo>
                  <a:cubicBezTo>
                    <a:pt x="8128" y="628554"/>
                    <a:pt x="0" y="620426"/>
                    <a:pt x="0" y="610399"/>
                  </a:cubicBezTo>
                  <a:lnTo>
                    <a:pt x="0" y="18154"/>
                  </a:lnTo>
                  <a:cubicBezTo>
                    <a:pt x="0" y="8128"/>
                    <a:pt x="8128" y="0"/>
                    <a:pt x="18154" y="0"/>
                  </a:cubicBezTo>
                  <a:close/>
                </a:path>
              </a:pathLst>
            </a:custGeom>
            <a:solidFill>
              <a:srgbClr val="596D5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713800" cy="657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214962" y="478875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2456483"/>
          <a:ext cx="16230599" cy="7477659"/>
        </p:xfrm>
        <a:graphic>
          <a:graphicData uri="http://schemas.openxmlformats.org/drawingml/2006/table">
            <a:tbl>
              <a:tblPr/>
              <a:tblGrid>
                <a:gridCol w="47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3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0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12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C9D6CA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C9D6CA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MERITS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D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C9D6CA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DEMERITS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63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Grow with Google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Free tool, practice questions, transcribed answers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Lacks AI-based question generation and adaptive interaction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063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AIApply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Generates tailored questions based on job descriptions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Minimal conversational or adaptive interactioN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62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SmallTalk2Me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Analyzes 30+ parameters (fluency, grammar, confidence)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Focuses on language/fluency, not behavioral/technical prep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063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InterviewAI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Mobile app, voice-based mock interviews, instant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Limited analytical depth and lacks adaptive follow-up questioning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648795"/>
            <a:ext cx="9230170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9"/>
              </a:lnSpc>
              <a:spcBef>
                <a:spcPct val="0"/>
              </a:spcBef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LITERATURE REVIEW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745440"/>
            <a:ext cx="69331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Review of existing platforms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214962" y="478875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2954765" y="1949213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59983" y="5143500"/>
            <a:ext cx="3460660" cy="3447682"/>
          </a:xfrm>
          <a:custGeom>
            <a:avLst/>
            <a:gdLst/>
            <a:ahLst/>
            <a:cxnLst/>
            <a:rect l="l" t="t" r="r" b="b"/>
            <a:pathLst>
              <a:path w="3460660" h="3447682">
                <a:moveTo>
                  <a:pt x="3460660" y="0"/>
                </a:moveTo>
                <a:lnTo>
                  <a:pt x="0" y="0"/>
                </a:lnTo>
                <a:lnTo>
                  <a:pt x="0" y="3447682"/>
                </a:lnTo>
                <a:lnTo>
                  <a:pt x="3460660" y="3447682"/>
                </a:lnTo>
                <a:lnTo>
                  <a:pt x="34606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25121" y="3229926"/>
            <a:ext cx="6437757" cy="6172200"/>
          </a:xfrm>
          <a:custGeom>
            <a:avLst/>
            <a:gdLst/>
            <a:ahLst/>
            <a:cxnLst/>
            <a:rect l="l" t="t" r="r" b="b"/>
            <a:pathLst>
              <a:path w="6437757" h="6172200">
                <a:moveTo>
                  <a:pt x="0" y="0"/>
                </a:moveTo>
                <a:lnTo>
                  <a:pt x="6437758" y="0"/>
                </a:lnTo>
                <a:lnTo>
                  <a:pt x="6437758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470832" y="6916543"/>
            <a:ext cx="2988883" cy="809175"/>
            <a:chOff x="0" y="0"/>
            <a:chExt cx="3985177" cy="10789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985177" cy="1078900"/>
              <a:chOff x="0" y="0"/>
              <a:chExt cx="1501136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0113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501136" h="406400">
                    <a:moveTo>
                      <a:pt x="1297936" y="0"/>
                    </a:moveTo>
                    <a:cubicBezTo>
                      <a:pt x="1410161" y="0"/>
                      <a:pt x="1501136" y="90976"/>
                      <a:pt x="1501136" y="203200"/>
                    </a:cubicBezTo>
                    <a:cubicBezTo>
                      <a:pt x="1501136" y="315424"/>
                      <a:pt x="1410161" y="406400"/>
                      <a:pt x="129793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9D6CA"/>
              </a:solidFill>
              <a:ln w="9525" cap="sq">
                <a:solidFill>
                  <a:srgbClr val="C9D6CA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1501136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16906" y="80637"/>
              <a:ext cx="917626" cy="917626"/>
            </a:xfrm>
            <a:custGeom>
              <a:avLst/>
              <a:gdLst/>
              <a:ahLst/>
              <a:cxnLst/>
              <a:rect l="l" t="t" r="r" b="b"/>
              <a:pathLst>
                <a:path w="917626" h="917626">
                  <a:moveTo>
                    <a:pt x="0" y="0"/>
                  </a:moveTo>
                  <a:lnTo>
                    <a:pt x="917626" y="0"/>
                  </a:lnTo>
                  <a:lnTo>
                    <a:pt x="917626" y="917626"/>
                  </a:lnTo>
                  <a:lnTo>
                    <a:pt x="0" y="917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148358" y="247708"/>
              <a:ext cx="2275259" cy="535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  <a:spcBef>
                  <a:spcPct val="0"/>
                </a:spcBef>
              </a:pPr>
              <a:r>
                <a:rPr lang="en-US" sz="2458">
                  <a:solidFill>
                    <a:srgbClr val="596D5B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Mentors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12713" y="3169449"/>
            <a:ext cx="2747002" cy="843012"/>
            <a:chOff x="0" y="0"/>
            <a:chExt cx="3662670" cy="112401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3662670" cy="1124016"/>
              <a:chOff x="0" y="0"/>
              <a:chExt cx="1379654" cy="42339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79654" cy="423394"/>
              </a:xfrm>
              <a:custGeom>
                <a:avLst/>
                <a:gdLst/>
                <a:ahLst/>
                <a:cxnLst/>
                <a:rect l="l" t="t" r="r" b="b"/>
                <a:pathLst>
                  <a:path w="1379654" h="423394">
                    <a:moveTo>
                      <a:pt x="1176454" y="0"/>
                    </a:moveTo>
                    <a:cubicBezTo>
                      <a:pt x="1288679" y="0"/>
                      <a:pt x="1379654" y="94780"/>
                      <a:pt x="1379654" y="211697"/>
                    </a:cubicBezTo>
                    <a:cubicBezTo>
                      <a:pt x="1379654" y="328614"/>
                      <a:pt x="1288679" y="423394"/>
                      <a:pt x="1176454" y="423394"/>
                    </a:cubicBezTo>
                    <a:lnTo>
                      <a:pt x="203200" y="423394"/>
                    </a:lnTo>
                    <a:cubicBezTo>
                      <a:pt x="90976" y="423394"/>
                      <a:pt x="0" y="328614"/>
                      <a:pt x="0" y="211697"/>
                    </a:cubicBezTo>
                    <a:cubicBezTo>
                      <a:pt x="0" y="947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D9F8F"/>
              </a:solidFill>
              <a:ln w="9525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1379654" cy="4519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4341" y="88789"/>
              <a:ext cx="917626" cy="917626"/>
            </a:xfrm>
            <a:custGeom>
              <a:avLst/>
              <a:gdLst/>
              <a:ahLst/>
              <a:cxnLst/>
              <a:rect l="l" t="t" r="r" b="b"/>
              <a:pathLst>
                <a:path w="917626" h="917626">
                  <a:moveTo>
                    <a:pt x="0" y="0"/>
                  </a:moveTo>
                  <a:lnTo>
                    <a:pt x="917625" y="0"/>
                  </a:lnTo>
                  <a:lnTo>
                    <a:pt x="917625" y="917625"/>
                  </a:lnTo>
                  <a:lnTo>
                    <a:pt x="0" y="917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148358" y="247708"/>
              <a:ext cx="2313201" cy="535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  <a:spcBef>
                  <a:spcPct val="0"/>
                </a:spcBef>
              </a:pPr>
              <a:r>
                <a:rPr lang="en-US" sz="2458">
                  <a:solidFill>
                    <a:srgbClr val="FFF2DB"/>
                  </a:solidFill>
                  <a:latin typeface="Be Vietnam"/>
                  <a:ea typeface="Be Vietnam"/>
                  <a:cs typeface="Be Vietnam"/>
                  <a:sym typeface="Be Vietnam"/>
                </a:rPr>
                <a:t>Job Seekers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34841" y="2420751"/>
            <a:ext cx="4317790" cy="809175"/>
            <a:chOff x="0" y="0"/>
            <a:chExt cx="2168567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68567" cy="406400"/>
            </a:xfrm>
            <a:custGeom>
              <a:avLst/>
              <a:gdLst/>
              <a:ahLst/>
              <a:cxnLst/>
              <a:rect l="l" t="t" r="r" b="b"/>
              <a:pathLst>
                <a:path w="2168567" h="406400">
                  <a:moveTo>
                    <a:pt x="1965367" y="0"/>
                  </a:moveTo>
                  <a:cubicBezTo>
                    <a:pt x="2077591" y="0"/>
                    <a:pt x="2168567" y="90976"/>
                    <a:pt x="2168567" y="203200"/>
                  </a:cubicBezTo>
                  <a:cubicBezTo>
                    <a:pt x="2168567" y="315424"/>
                    <a:pt x="2077591" y="406400"/>
                    <a:pt x="19653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18673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168567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22520" y="2481229"/>
            <a:ext cx="688219" cy="688219"/>
          </a:xfrm>
          <a:custGeom>
            <a:avLst/>
            <a:gdLst/>
            <a:ahLst/>
            <a:cxnLst/>
            <a:rect l="l" t="t" r="r" b="b"/>
            <a:pathLst>
              <a:path w="688219" h="688219">
                <a:moveTo>
                  <a:pt x="0" y="0"/>
                </a:moveTo>
                <a:lnTo>
                  <a:pt x="688219" y="0"/>
                </a:lnTo>
                <a:lnTo>
                  <a:pt x="688219" y="688220"/>
                </a:lnTo>
                <a:lnTo>
                  <a:pt x="0" y="688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2450824" y="4765319"/>
            <a:ext cx="3247235" cy="809175"/>
            <a:chOff x="0" y="0"/>
            <a:chExt cx="1630891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30891" cy="406400"/>
            </a:xfrm>
            <a:custGeom>
              <a:avLst/>
              <a:gdLst/>
              <a:ahLst/>
              <a:cxnLst/>
              <a:rect l="l" t="t" r="r" b="b"/>
              <a:pathLst>
                <a:path w="1630891" h="406400">
                  <a:moveTo>
                    <a:pt x="1427691" y="0"/>
                  </a:moveTo>
                  <a:cubicBezTo>
                    <a:pt x="1539915" y="0"/>
                    <a:pt x="1630891" y="90976"/>
                    <a:pt x="1630891" y="203200"/>
                  </a:cubicBezTo>
                  <a:cubicBezTo>
                    <a:pt x="1630891" y="315424"/>
                    <a:pt x="1539915" y="406400"/>
                    <a:pt x="1427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18673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630891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500067" y="4827252"/>
            <a:ext cx="685309" cy="685309"/>
          </a:xfrm>
          <a:custGeom>
            <a:avLst/>
            <a:gdLst/>
            <a:ahLst/>
            <a:cxnLst/>
            <a:rect l="l" t="t" r="r" b="b"/>
            <a:pathLst>
              <a:path w="685309" h="685309">
                <a:moveTo>
                  <a:pt x="0" y="0"/>
                </a:moveTo>
                <a:lnTo>
                  <a:pt x="685309" y="0"/>
                </a:lnTo>
                <a:lnTo>
                  <a:pt x="685309" y="685309"/>
                </a:lnTo>
                <a:lnTo>
                  <a:pt x="0" y="6853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1639466" y="7658215"/>
            <a:ext cx="2713567" cy="809175"/>
            <a:chOff x="0" y="0"/>
            <a:chExt cx="1362862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2862" cy="406400"/>
            </a:xfrm>
            <a:custGeom>
              <a:avLst/>
              <a:gdLst/>
              <a:ahLst/>
              <a:cxnLst/>
              <a:rect l="l" t="t" r="r" b="b"/>
              <a:pathLst>
                <a:path w="1362862" h="406400">
                  <a:moveTo>
                    <a:pt x="1159662" y="0"/>
                  </a:moveTo>
                  <a:cubicBezTo>
                    <a:pt x="1271886" y="0"/>
                    <a:pt x="1362862" y="90976"/>
                    <a:pt x="1362862" y="203200"/>
                  </a:cubicBezTo>
                  <a:cubicBezTo>
                    <a:pt x="1362862" y="315424"/>
                    <a:pt x="1271886" y="406400"/>
                    <a:pt x="115966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362862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1698234" y="7725718"/>
            <a:ext cx="674170" cy="674170"/>
          </a:xfrm>
          <a:custGeom>
            <a:avLst/>
            <a:gdLst/>
            <a:ahLst/>
            <a:cxnLst/>
            <a:rect l="l" t="t" r="r" b="b"/>
            <a:pathLst>
              <a:path w="674170" h="674170">
                <a:moveTo>
                  <a:pt x="0" y="0"/>
                </a:moveTo>
                <a:lnTo>
                  <a:pt x="674170" y="0"/>
                </a:lnTo>
                <a:lnTo>
                  <a:pt x="674170" y="674170"/>
                </a:lnTo>
                <a:lnTo>
                  <a:pt x="0" y="6741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289817" y="5287198"/>
            <a:ext cx="749813" cy="749813"/>
          </a:xfrm>
          <a:custGeom>
            <a:avLst/>
            <a:gdLst/>
            <a:ahLst/>
            <a:cxnLst/>
            <a:rect l="l" t="t" r="r" b="b"/>
            <a:pathLst>
              <a:path w="749813" h="749813">
                <a:moveTo>
                  <a:pt x="0" y="0"/>
                </a:moveTo>
                <a:lnTo>
                  <a:pt x="749813" y="0"/>
                </a:lnTo>
                <a:lnTo>
                  <a:pt x="749813" y="749813"/>
                </a:lnTo>
                <a:lnTo>
                  <a:pt x="0" y="7498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168607" y="5278669"/>
            <a:ext cx="758342" cy="758342"/>
          </a:xfrm>
          <a:custGeom>
            <a:avLst/>
            <a:gdLst/>
            <a:ahLst/>
            <a:cxnLst/>
            <a:rect l="l" t="t" r="r" b="b"/>
            <a:pathLst>
              <a:path w="758342" h="758342">
                <a:moveTo>
                  <a:pt x="0" y="0"/>
                </a:moveTo>
                <a:lnTo>
                  <a:pt x="758342" y="0"/>
                </a:lnTo>
                <a:lnTo>
                  <a:pt x="758342" y="758342"/>
                </a:lnTo>
                <a:lnTo>
                  <a:pt x="0" y="75834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285440" y="7965969"/>
            <a:ext cx="667768" cy="641057"/>
          </a:xfrm>
          <a:custGeom>
            <a:avLst/>
            <a:gdLst/>
            <a:ahLst/>
            <a:cxnLst/>
            <a:rect l="l" t="t" r="r" b="b"/>
            <a:pathLst>
              <a:path w="667768" h="641057">
                <a:moveTo>
                  <a:pt x="0" y="0"/>
                </a:moveTo>
                <a:lnTo>
                  <a:pt x="667768" y="0"/>
                </a:lnTo>
                <a:lnTo>
                  <a:pt x="667768" y="641057"/>
                </a:lnTo>
                <a:lnTo>
                  <a:pt x="0" y="64105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811775" y="3507187"/>
            <a:ext cx="664450" cy="534882"/>
          </a:xfrm>
          <a:custGeom>
            <a:avLst/>
            <a:gdLst/>
            <a:ahLst/>
            <a:cxnLst/>
            <a:rect l="l" t="t" r="r" b="b"/>
            <a:pathLst>
              <a:path w="664450" h="534882">
                <a:moveTo>
                  <a:pt x="0" y="0"/>
                </a:moveTo>
                <a:lnTo>
                  <a:pt x="664450" y="0"/>
                </a:lnTo>
                <a:lnTo>
                  <a:pt x="664450" y="534882"/>
                </a:lnTo>
                <a:lnTo>
                  <a:pt x="0" y="53488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134841" y="7868912"/>
            <a:ext cx="628375" cy="722270"/>
          </a:xfrm>
          <a:custGeom>
            <a:avLst/>
            <a:gdLst/>
            <a:ahLst/>
            <a:cxnLst/>
            <a:rect l="l" t="t" r="r" b="b"/>
            <a:pathLst>
              <a:path w="628375" h="722270">
                <a:moveTo>
                  <a:pt x="0" y="0"/>
                </a:moveTo>
                <a:lnTo>
                  <a:pt x="628375" y="0"/>
                </a:lnTo>
                <a:lnTo>
                  <a:pt x="628375" y="722270"/>
                </a:lnTo>
                <a:lnTo>
                  <a:pt x="0" y="72227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451113" y="904875"/>
            <a:ext cx="7385773" cy="11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9"/>
              </a:lnSpc>
              <a:spcBef>
                <a:spcPct val="0"/>
              </a:spcBef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ST</a:t>
            </a:r>
            <a:r>
              <a:rPr lang="en-US" sz="6699" b="1" u="none" strike="noStrike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AKEHOLDERS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96109" y="2594626"/>
            <a:ext cx="3356924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Academic Institutions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12092" y="4939193"/>
            <a:ext cx="2289803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Recruiters &amp; HR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00734" y="7832090"/>
            <a:ext cx="2289803" cy="41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sz="2458">
                <a:solidFill>
                  <a:srgbClr val="FFF2DB"/>
                </a:solidFill>
                <a:latin typeface="Be Vietnam"/>
                <a:ea typeface="Be Vietnam"/>
                <a:cs typeface="Be Vietnam"/>
                <a:sym typeface="Be Vietnam"/>
              </a:rPr>
              <a:t>Developers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12438" y="4069356"/>
            <a:ext cx="2812544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Practice interviews, receive feedback, gain confidence.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37553" y="7832090"/>
            <a:ext cx="3276478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Monitor student progress and ensure ethical standards are maintained.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42628" y="3386503"/>
            <a:ext cx="524924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Integrate for placement preparation and skill development.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74571" y="5741088"/>
            <a:ext cx="308654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Automate screening, standardize evaluations.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698234" y="8648077"/>
            <a:ext cx="504433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Build, integrate, and maintain backend, frontend, and AI feedback systems.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24289" y="6037011"/>
            <a:ext cx="3460660" cy="3447682"/>
          </a:xfrm>
          <a:custGeom>
            <a:avLst/>
            <a:gdLst/>
            <a:ahLst/>
            <a:cxnLst/>
            <a:rect l="l" t="t" r="r" b="b"/>
            <a:pathLst>
              <a:path w="3460660" h="3447682">
                <a:moveTo>
                  <a:pt x="3460660" y="0"/>
                </a:moveTo>
                <a:lnTo>
                  <a:pt x="0" y="0"/>
                </a:lnTo>
                <a:lnTo>
                  <a:pt x="0" y="3447682"/>
                </a:lnTo>
                <a:lnTo>
                  <a:pt x="3460660" y="3447682"/>
                </a:lnTo>
                <a:lnTo>
                  <a:pt x="34606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57200" y="190500"/>
            <a:ext cx="4610100" cy="2367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379"/>
              </a:lnSpc>
              <a:spcBef>
                <a:spcPct val="0"/>
              </a:spcBef>
            </a:pPr>
            <a:r>
              <a:rPr lang="en-US" sz="6699" b="1" dirty="0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System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4AF46-1F62-97C4-690B-03C1CDF7B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52400"/>
            <a:ext cx="9040091" cy="998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176816" y="-3543478"/>
            <a:ext cx="6493424" cy="7086957"/>
          </a:xfrm>
          <a:custGeom>
            <a:avLst/>
            <a:gdLst/>
            <a:ahLst/>
            <a:cxnLst/>
            <a:rect l="l" t="t" r="r" b="b"/>
            <a:pathLst>
              <a:path w="6493424" h="7086957">
                <a:moveTo>
                  <a:pt x="0" y="0"/>
                </a:moveTo>
                <a:lnTo>
                  <a:pt x="6493424" y="0"/>
                </a:lnTo>
                <a:lnTo>
                  <a:pt x="6493424" y="7086956"/>
                </a:lnTo>
                <a:lnTo>
                  <a:pt x="0" y="7086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3528" y="6818921"/>
            <a:ext cx="4130289" cy="4114800"/>
          </a:xfrm>
          <a:custGeom>
            <a:avLst/>
            <a:gdLst/>
            <a:ahLst/>
            <a:cxnLst/>
            <a:rect l="l" t="t" r="r" b="b"/>
            <a:pathLst>
              <a:path w="4130289" h="4114800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03355" y="9112518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5945432"/>
            <a:ext cx="5612871" cy="497074"/>
            <a:chOff x="0" y="0"/>
            <a:chExt cx="7483828" cy="662766"/>
          </a:xfrm>
        </p:grpSpPr>
        <p:sp>
          <p:nvSpPr>
            <p:cNvPr id="6" name="Freeform 6"/>
            <p:cNvSpPr/>
            <p:nvPr/>
          </p:nvSpPr>
          <p:spPr>
            <a:xfrm>
              <a:off x="6550160" y="41876"/>
              <a:ext cx="933668" cy="620890"/>
            </a:xfrm>
            <a:custGeom>
              <a:avLst/>
              <a:gdLst/>
              <a:ahLst/>
              <a:cxnLst/>
              <a:rect l="l" t="t" r="r" b="b"/>
              <a:pathLst>
                <a:path w="933668" h="620890">
                  <a:moveTo>
                    <a:pt x="0" y="0"/>
                  </a:moveTo>
                  <a:lnTo>
                    <a:pt x="933668" y="0"/>
                  </a:lnTo>
                  <a:lnTo>
                    <a:pt x="933668" y="620890"/>
                  </a:lnTo>
                  <a:lnTo>
                    <a:pt x="0" y="620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6550160" cy="72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27"/>
                </a:lnSpc>
                <a:spcBef>
                  <a:spcPct val="0"/>
                </a:spcBef>
              </a:pPr>
              <a:r>
                <a:rPr lang="en-US" sz="3305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Software Requirements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652056"/>
            <a:ext cx="4128519" cy="809175"/>
            <a:chOff x="0" y="0"/>
            <a:chExt cx="2073507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35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12663" y="6652056"/>
            <a:ext cx="4128519" cy="809175"/>
            <a:chOff x="0" y="0"/>
            <a:chExt cx="2073507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35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7650703"/>
            <a:ext cx="4128519" cy="809175"/>
            <a:chOff x="0" y="0"/>
            <a:chExt cx="2073507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735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12663" y="7650703"/>
            <a:ext cx="4128519" cy="809175"/>
            <a:chOff x="0" y="0"/>
            <a:chExt cx="2073507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3507" cy="406400"/>
            </a:xfrm>
            <a:custGeom>
              <a:avLst/>
              <a:gdLst/>
              <a:ahLst/>
              <a:cxnLst/>
              <a:rect l="l" t="t" r="r" b="b"/>
              <a:pathLst>
                <a:path w="2073507" h="406400">
                  <a:moveTo>
                    <a:pt x="1870307" y="0"/>
                  </a:moveTo>
                  <a:cubicBezTo>
                    <a:pt x="1982532" y="0"/>
                    <a:pt x="2073507" y="90976"/>
                    <a:pt x="2073507" y="203200"/>
                  </a:cubicBezTo>
                  <a:cubicBezTo>
                    <a:pt x="2073507" y="315424"/>
                    <a:pt x="1982532" y="406400"/>
                    <a:pt x="18703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6D5B"/>
            </a:solidFill>
            <a:ln w="9525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735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5400000">
            <a:off x="1172993" y="6816653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80" y="0"/>
                </a:lnTo>
                <a:lnTo>
                  <a:pt x="479980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5556957" y="6816653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79" y="0"/>
                </a:lnTo>
                <a:lnTo>
                  <a:pt x="479979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5400000">
            <a:off x="1172993" y="7815300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80" y="0"/>
                </a:lnTo>
                <a:lnTo>
                  <a:pt x="479980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5400000">
            <a:off x="5556957" y="7815300"/>
            <a:ext cx="479980" cy="479980"/>
          </a:xfrm>
          <a:custGeom>
            <a:avLst/>
            <a:gdLst/>
            <a:ahLst/>
            <a:cxnLst/>
            <a:rect l="l" t="t" r="r" b="b"/>
            <a:pathLst>
              <a:path w="479980" h="479980">
                <a:moveTo>
                  <a:pt x="0" y="0"/>
                </a:moveTo>
                <a:lnTo>
                  <a:pt x="479979" y="0"/>
                </a:lnTo>
                <a:lnTo>
                  <a:pt x="479979" y="479980"/>
                </a:lnTo>
                <a:lnTo>
                  <a:pt x="0" y="479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4943801" y="1781118"/>
            <a:ext cx="2833633" cy="3941683"/>
            <a:chOff x="0" y="0"/>
            <a:chExt cx="822940" cy="11447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2940" cy="1144738"/>
            </a:xfrm>
            <a:custGeom>
              <a:avLst/>
              <a:gdLst/>
              <a:ahLst/>
              <a:cxnLst/>
              <a:rect l="l" t="t" r="r" b="b"/>
              <a:pathLst>
                <a:path w="822940" h="1144738">
                  <a:moveTo>
                    <a:pt x="35518" y="0"/>
                  </a:moveTo>
                  <a:lnTo>
                    <a:pt x="787422" y="0"/>
                  </a:lnTo>
                  <a:cubicBezTo>
                    <a:pt x="796842" y="0"/>
                    <a:pt x="805876" y="3742"/>
                    <a:pt x="812537" y="10403"/>
                  </a:cubicBezTo>
                  <a:cubicBezTo>
                    <a:pt x="819198" y="17064"/>
                    <a:pt x="822940" y="26098"/>
                    <a:pt x="822940" y="35518"/>
                  </a:cubicBezTo>
                  <a:lnTo>
                    <a:pt x="822940" y="1109220"/>
                  </a:lnTo>
                  <a:cubicBezTo>
                    <a:pt x="822940" y="1118640"/>
                    <a:pt x="819198" y="1127674"/>
                    <a:pt x="812537" y="1134335"/>
                  </a:cubicBezTo>
                  <a:cubicBezTo>
                    <a:pt x="805876" y="1140996"/>
                    <a:pt x="796842" y="1144738"/>
                    <a:pt x="787422" y="1144738"/>
                  </a:cubicBezTo>
                  <a:lnTo>
                    <a:pt x="35518" y="1144738"/>
                  </a:lnTo>
                  <a:cubicBezTo>
                    <a:pt x="26098" y="1144738"/>
                    <a:pt x="17064" y="1140996"/>
                    <a:pt x="10403" y="1134335"/>
                  </a:cubicBezTo>
                  <a:cubicBezTo>
                    <a:pt x="3742" y="1127674"/>
                    <a:pt x="0" y="1118640"/>
                    <a:pt x="0" y="1109220"/>
                  </a:cubicBezTo>
                  <a:lnTo>
                    <a:pt x="0" y="35518"/>
                  </a:lnTo>
                  <a:cubicBezTo>
                    <a:pt x="0" y="26098"/>
                    <a:pt x="3742" y="17064"/>
                    <a:pt x="10403" y="10403"/>
                  </a:cubicBezTo>
                  <a:cubicBezTo>
                    <a:pt x="17064" y="3742"/>
                    <a:pt x="26098" y="0"/>
                    <a:pt x="35518" y="0"/>
                  </a:cubicBezTo>
                  <a:close/>
                </a:path>
              </a:pathLst>
            </a:custGeom>
            <a:blipFill>
              <a:blip r:embed="rId12"/>
              <a:stretch>
                <a:fillRect l="-54232" r="-54232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28700" y="3219238"/>
            <a:ext cx="5612871" cy="497074"/>
            <a:chOff x="0" y="0"/>
            <a:chExt cx="7483828" cy="662766"/>
          </a:xfrm>
        </p:grpSpPr>
        <p:sp>
          <p:nvSpPr>
            <p:cNvPr id="27" name="Freeform 27"/>
            <p:cNvSpPr/>
            <p:nvPr/>
          </p:nvSpPr>
          <p:spPr>
            <a:xfrm>
              <a:off x="6550160" y="41876"/>
              <a:ext cx="933668" cy="620890"/>
            </a:xfrm>
            <a:custGeom>
              <a:avLst/>
              <a:gdLst/>
              <a:ahLst/>
              <a:cxnLst/>
              <a:rect l="l" t="t" r="r" b="b"/>
              <a:pathLst>
                <a:path w="933668" h="620890">
                  <a:moveTo>
                    <a:pt x="0" y="0"/>
                  </a:moveTo>
                  <a:lnTo>
                    <a:pt x="933668" y="0"/>
                  </a:lnTo>
                  <a:lnTo>
                    <a:pt x="933668" y="620890"/>
                  </a:lnTo>
                  <a:lnTo>
                    <a:pt x="0" y="620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550160" cy="72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27"/>
                </a:lnSpc>
                <a:spcBef>
                  <a:spcPct val="0"/>
                </a:spcBef>
              </a:pPr>
              <a:r>
                <a:rPr lang="en-US" sz="3305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Hardware Requirements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3914980"/>
            <a:ext cx="8512482" cy="1807822"/>
            <a:chOff x="0" y="0"/>
            <a:chExt cx="11349977" cy="241042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5504692" cy="1078900"/>
              <a:chOff x="0" y="0"/>
              <a:chExt cx="2073507" cy="406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073507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3507" h="406400">
                    <a:moveTo>
                      <a:pt x="1870307" y="0"/>
                    </a:moveTo>
                    <a:cubicBezTo>
                      <a:pt x="1982532" y="0"/>
                      <a:pt x="2073507" y="90976"/>
                      <a:pt x="2073507" y="203200"/>
                    </a:cubicBezTo>
                    <a:cubicBezTo>
                      <a:pt x="2073507" y="315424"/>
                      <a:pt x="1982532" y="406400"/>
                      <a:pt x="187030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0C097"/>
              </a:solidFill>
              <a:ln w="9525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073507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4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845284" y="0"/>
              <a:ext cx="5504692" cy="1078900"/>
              <a:chOff x="0" y="0"/>
              <a:chExt cx="2073507" cy="4064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073507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3507" h="406400">
                    <a:moveTo>
                      <a:pt x="1870307" y="0"/>
                    </a:moveTo>
                    <a:cubicBezTo>
                      <a:pt x="1982532" y="0"/>
                      <a:pt x="2073507" y="90976"/>
                      <a:pt x="2073507" y="203200"/>
                    </a:cubicBezTo>
                    <a:cubicBezTo>
                      <a:pt x="2073507" y="315424"/>
                      <a:pt x="1982532" y="406400"/>
                      <a:pt x="187030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0C097"/>
              </a:solidFill>
              <a:ln w="9525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2073507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4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1331529"/>
              <a:ext cx="5504692" cy="1078900"/>
              <a:chOff x="0" y="0"/>
              <a:chExt cx="2073507" cy="406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073507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3507" h="406400">
                    <a:moveTo>
                      <a:pt x="1870307" y="0"/>
                    </a:moveTo>
                    <a:cubicBezTo>
                      <a:pt x="1982532" y="0"/>
                      <a:pt x="2073507" y="90976"/>
                      <a:pt x="2073507" y="203200"/>
                    </a:cubicBezTo>
                    <a:cubicBezTo>
                      <a:pt x="2073507" y="315424"/>
                      <a:pt x="1982532" y="406400"/>
                      <a:pt x="187030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0C097"/>
              </a:solidFill>
              <a:ln w="9525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2073507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4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845284" y="1331529"/>
              <a:ext cx="5504692" cy="1078900"/>
              <a:chOff x="0" y="0"/>
              <a:chExt cx="2073507" cy="406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073507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3507" h="406400">
                    <a:moveTo>
                      <a:pt x="1870307" y="0"/>
                    </a:moveTo>
                    <a:cubicBezTo>
                      <a:pt x="1982532" y="0"/>
                      <a:pt x="2073507" y="90976"/>
                      <a:pt x="2073507" y="203200"/>
                    </a:cubicBezTo>
                    <a:cubicBezTo>
                      <a:pt x="2073507" y="315424"/>
                      <a:pt x="1982532" y="406400"/>
                      <a:pt x="187030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0C097"/>
              </a:solidFill>
              <a:ln w="9525" cap="sq">
                <a:solidFill>
                  <a:srgbClr val="596D5B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2073507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4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 rot="5400000">
              <a:off x="192391" y="219463"/>
              <a:ext cx="639973" cy="639973"/>
            </a:xfrm>
            <a:custGeom>
              <a:avLst/>
              <a:gdLst/>
              <a:ahLst/>
              <a:cxnLst/>
              <a:rect l="l" t="t" r="r" b="b"/>
              <a:pathLst>
                <a:path w="639973" h="639973">
                  <a:moveTo>
                    <a:pt x="0" y="0"/>
                  </a:moveTo>
                  <a:lnTo>
                    <a:pt x="639973" y="0"/>
                  </a:lnTo>
                  <a:lnTo>
                    <a:pt x="639973" y="639974"/>
                  </a:lnTo>
                  <a:lnTo>
                    <a:pt x="0" y="639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5400000">
              <a:off x="6037675" y="219463"/>
              <a:ext cx="639973" cy="639973"/>
            </a:xfrm>
            <a:custGeom>
              <a:avLst/>
              <a:gdLst/>
              <a:ahLst/>
              <a:cxnLst/>
              <a:rect l="l" t="t" r="r" b="b"/>
              <a:pathLst>
                <a:path w="639973" h="639973">
                  <a:moveTo>
                    <a:pt x="0" y="0"/>
                  </a:moveTo>
                  <a:lnTo>
                    <a:pt x="639974" y="0"/>
                  </a:lnTo>
                  <a:lnTo>
                    <a:pt x="639974" y="639974"/>
                  </a:lnTo>
                  <a:lnTo>
                    <a:pt x="0" y="639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rot="5400000">
              <a:off x="192391" y="1550993"/>
              <a:ext cx="639973" cy="639973"/>
            </a:xfrm>
            <a:custGeom>
              <a:avLst/>
              <a:gdLst/>
              <a:ahLst/>
              <a:cxnLst/>
              <a:rect l="l" t="t" r="r" b="b"/>
              <a:pathLst>
                <a:path w="639973" h="639973">
                  <a:moveTo>
                    <a:pt x="0" y="0"/>
                  </a:moveTo>
                  <a:lnTo>
                    <a:pt x="639973" y="0"/>
                  </a:lnTo>
                  <a:lnTo>
                    <a:pt x="639973" y="639973"/>
                  </a:lnTo>
                  <a:lnTo>
                    <a:pt x="0" y="639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5400000">
              <a:off x="6037675" y="1550993"/>
              <a:ext cx="639973" cy="639973"/>
            </a:xfrm>
            <a:custGeom>
              <a:avLst/>
              <a:gdLst/>
              <a:ahLst/>
              <a:cxnLst/>
              <a:rect l="l" t="t" r="r" b="b"/>
              <a:pathLst>
                <a:path w="639973" h="639973">
                  <a:moveTo>
                    <a:pt x="0" y="0"/>
                  </a:moveTo>
                  <a:lnTo>
                    <a:pt x="639974" y="0"/>
                  </a:lnTo>
                  <a:lnTo>
                    <a:pt x="639974" y="639973"/>
                  </a:lnTo>
                  <a:lnTo>
                    <a:pt x="0" y="639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1017848" y="180552"/>
              <a:ext cx="3954855" cy="77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9"/>
                </a:lnSpc>
              </a:pPr>
              <a:r>
                <a:rPr lang="en-US" sz="210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Processor ( Intel Core i5+)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80129" y="379680"/>
              <a:ext cx="3435003" cy="391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9"/>
                </a:lnSpc>
              </a:pPr>
              <a:r>
                <a:rPr lang="en-US" sz="210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RAM (8-16 GB 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7848" y="1512081"/>
              <a:ext cx="3954855" cy="77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9"/>
                </a:lnSpc>
              </a:pPr>
              <a:r>
                <a:rPr lang="en-US" sz="210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Storage (SSD with 256 GB)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3132" y="1696231"/>
              <a:ext cx="4201478" cy="391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9"/>
                </a:lnSpc>
              </a:pPr>
              <a:r>
                <a:rPr lang="en-US" sz="2100">
                  <a:solidFill>
                    <a:srgbClr val="728674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Graphics (discrete GPU)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91488" y="3716313"/>
            <a:ext cx="3881710" cy="2130050"/>
            <a:chOff x="0" y="0"/>
            <a:chExt cx="1022343" cy="56100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2343" cy="561001"/>
            </a:xfrm>
            <a:custGeom>
              <a:avLst/>
              <a:gdLst/>
              <a:ahLst/>
              <a:cxnLst/>
              <a:rect l="l" t="t" r="r" b="b"/>
              <a:pathLst>
                <a:path w="1022343" h="561001">
                  <a:moveTo>
                    <a:pt x="101718" y="0"/>
                  </a:moveTo>
                  <a:lnTo>
                    <a:pt x="920626" y="0"/>
                  </a:lnTo>
                  <a:cubicBezTo>
                    <a:pt x="976803" y="0"/>
                    <a:pt x="1022343" y="45540"/>
                    <a:pt x="1022343" y="101718"/>
                  </a:cubicBezTo>
                  <a:lnTo>
                    <a:pt x="1022343" y="459283"/>
                  </a:lnTo>
                  <a:cubicBezTo>
                    <a:pt x="1022343" y="515460"/>
                    <a:pt x="976803" y="561001"/>
                    <a:pt x="920626" y="561001"/>
                  </a:cubicBezTo>
                  <a:lnTo>
                    <a:pt x="101718" y="561001"/>
                  </a:lnTo>
                  <a:cubicBezTo>
                    <a:pt x="74740" y="561001"/>
                    <a:pt x="48868" y="550284"/>
                    <a:pt x="29792" y="531208"/>
                  </a:cubicBezTo>
                  <a:cubicBezTo>
                    <a:pt x="10717" y="512133"/>
                    <a:pt x="0" y="486260"/>
                    <a:pt x="0" y="459283"/>
                  </a:cubicBezTo>
                  <a:lnTo>
                    <a:pt x="0" y="101718"/>
                  </a:lnTo>
                  <a:cubicBezTo>
                    <a:pt x="0" y="45540"/>
                    <a:pt x="45540" y="0"/>
                    <a:pt x="101718" y="0"/>
                  </a:cubicBezTo>
                  <a:close/>
                </a:path>
              </a:pathLst>
            </a:custGeom>
            <a:solidFill>
              <a:srgbClr val="596D5B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022343" cy="589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AutoShape 53"/>
          <p:cNvSpPr/>
          <p:nvPr/>
        </p:nvSpPr>
        <p:spPr>
          <a:xfrm flipV="1">
            <a:off x="9352376" y="4804096"/>
            <a:ext cx="1042811" cy="1971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9459104" y="6551212"/>
            <a:ext cx="4996172" cy="2130050"/>
            <a:chOff x="-109437" y="0"/>
            <a:chExt cx="6661562" cy="2840066"/>
          </a:xfrm>
        </p:grpSpPr>
        <p:grpSp>
          <p:nvGrpSpPr>
            <p:cNvPr id="55" name="Group 55"/>
            <p:cNvGrpSpPr/>
            <p:nvPr/>
          </p:nvGrpSpPr>
          <p:grpSpPr>
            <a:xfrm>
              <a:off x="1376512" y="0"/>
              <a:ext cx="5175613" cy="2840066"/>
              <a:chOff x="0" y="0"/>
              <a:chExt cx="1022343" cy="561001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022343" cy="561001"/>
              </a:xfrm>
              <a:custGeom>
                <a:avLst/>
                <a:gdLst/>
                <a:ahLst/>
                <a:cxnLst/>
                <a:rect l="l" t="t" r="r" b="b"/>
                <a:pathLst>
                  <a:path w="1022343" h="561001">
                    <a:moveTo>
                      <a:pt x="101718" y="0"/>
                    </a:moveTo>
                    <a:lnTo>
                      <a:pt x="920626" y="0"/>
                    </a:lnTo>
                    <a:cubicBezTo>
                      <a:pt x="976803" y="0"/>
                      <a:pt x="1022343" y="45540"/>
                      <a:pt x="1022343" y="101718"/>
                    </a:cubicBezTo>
                    <a:lnTo>
                      <a:pt x="1022343" y="459283"/>
                    </a:lnTo>
                    <a:cubicBezTo>
                      <a:pt x="1022343" y="515460"/>
                      <a:pt x="976803" y="561001"/>
                      <a:pt x="920626" y="561001"/>
                    </a:cubicBezTo>
                    <a:lnTo>
                      <a:pt x="101718" y="561001"/>
                    </a:lnTo>
                    <a:cubicBezTo>
                      <a:pt x="74740" y="561001"/>
                      <a:pt x="48868" y="550284"/>
                      <a:pt x="29792" y="531208"/>
                    </a:cubicBezTo>
                    <a:cubicBezTo>
                      <a:pt x="10717" y="512133"/>
                      <a:pt x="0" y="486260"/>
                      <a:pt x="0" y="459283"/>
                    </a:cubicBezTo>
                    <a:lnTo>
                      <a:pt x="0" y="101718"/>
                    </a:lnTo>
                    <a:cubicBezTo>
                      <a:pt x="0" y="45540"/>
                      <a:pt x="45540" y="0"/>
                      <a:pt x="101718" y="0"/>
                    </a:cubicBezTo>
                    <a:close/>
                  </a:path>
                </a:pathLst>
              </a:custGeom>
              <a:solidFill>
                <a:srgbClr val="C4A57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1022343" cy="589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553055" y="332566"/>
              <a:ext cx="4956739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dirty="0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The platform relies on a modern tech stack for seamless integration and deployment.</a:t>
              </a:r>
            </a:p>
          </p:txBody>
        </p:sp>
        <p:sp>
          <p:nvSpPr>
            <p:cNvPr id="59" name="AutoShape 59"/>
            <p:cNvSpPr/>
            <p:nvPr/>
          </p:nvSpPr>
          <p:spPr>
            <a:xfrm flipV="1">
              <a:off x="-109437" y="1364841"/>
              <a:ext cx="137651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943801" y="6094262"/>
            <a:ext cx="2833633" cy="3941683"/>
            <a:chOff x="0" y="0"/>
            <a:chExt cx="822940" cy="114473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22940" cy="1144738"/>
            </a:xfrm>
            <a:custGeom>
              <a:avLst/>
              <a:gdLst/>
              <a:ahLst/>
              <a:cxnLst/>
              <a:rect l="l" t="t" r="r" b="b"/>
              <a:pathLst>
                <a:path w="822940" h="1144738">
                  <a:moveTo>
                    <a:pt x="35518" y="0"/>
                  </a:moveTo>
                  <a:lnTo>
                    <a:pt x="787422" y="0"/>
                  </a:lnTo>
                  <a:cubicBezTo>
                    <a:pt x="796842" y="0"/>
                    <a:pt x="805876" y="3742"/>
                    <a:pt x="812537" y="10403"/>
                  </a:cubicBezTo>
                  <a:cubicBezTo>
                    <a:pt x="819198" y="17064"/>
                    <a:pt x="822940" y="26098"/>
                    <a:pt x="822940" y="35518"/>
                  </a:cubicBezTo>
                  <a:lnTo>
                    <a:pt x="822940" y="1109220"/>
                  </a:lnTo>
                  <a:cubicBezTo>
                    <a:pt x="822940" y="1118640"/>
                    <a:pt x="819198" y="1127674"/>
                    <a:pt x="812537" y="1134335"/>
                  </a:cubicBezTo>
                  <a:cubicBezTo>
                    <a:pt x="805876" y="1140996"/>
                    <a:pt x="796842" y="1144738"/>
                    <a:pt x="787422" y="1144738"/>
                  </a:cubicBezTo>
                  <a:lnTo>
                    <a:pt x="35518" y="1144738"/>
                  </a:lnTo>
                  <a:cubicBezTo>
                    <a:pt x="26098" y="1144738"/>
                    <a:pt x="17064" y="1140996"/>
                    <a:pt x="10403" y="1134335"/>
                  </a:cubicBezTo>
                  <a:cubicBezTo>
                    <a:pt x="3742" y="1127674"/>
                    <a:pt x="0" y="1118640"/>
                    <a:pt x="0" y="1109220"/>
                  </a:cubicBezTo>
                  <a:lnTo>
                    <a:pt x="0" y="35518"/>
                  </a:lnTo>
                  <a:cubicBezTo>
                    <a:pt x="0" y="26098"/>
                    <a:pt x="3742" y="17064"/>
                    <a:pt x="10403" y="10403"/>
                  </a:cubicBezTo>
                  <a:cubicBezTo>
                    <a:pt x="17064" y="3742"/>
                    <a:pt x="26098" y="0"/>
                    <a:pt x="35518" y="0"/>
                  </a:cubicBezTo>
                  <a:close/>
                </a:path>
              </a:pathLst>
            </a:custGeom>
            <a:blipFill>
              <a:blip r:embed="rId13"/>
              <a:stretch>
                <a:fillRect l="-54232" r="-54232"/>
              </a:stretch>
            </a:blipFill>
          </p:spPr>
        </p:sp>
      </p:grpSp>
      <p:sp>
        <p:nvSpPr>
          <p:cNvPr id="62" name="TextBox 62"/>
          <p:cNvSpPr txBox="1"/>
          <p:nvPr/>
        </p:nvSpPr>
        <p:spPr>
          <a:xfrm>
            <a:off x="1028700" y="1184327"/>
            <a:ext cx="7249063" cy="173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9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SYSTEM REQUIREME</a:t>
            </a:r>
            <a:r>
              <a:rPr lang="en-US" sz="6699" b="1" u="none" strike="noStrike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NTS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655644" y="3901307"/>
            <a:ext cx="3717554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Robust hardware ensures reliable operation for model training and real-time voice processing.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92086" y="6794614"/>
            <a:ext cx="2866543" cy="57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2100">
                <a:solidFill>
                  <a:srgbClr val="EFE9DE"/>
                </a:solidFill>
                <a:latin typeface="Be Vietnam"/>
                <a:ea typeface="Be Vietnam"/>
                <a:cs typeface="Be Vietnam"/>
                <a:sym typeface="Be Vietnam"/>
              </a:rPr>
              <a:t>Programming (Python 3.9+)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188797" y="6808993"/>
            <a:ext cx="2576252" cy="57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2100">
                <a:solidFill>
                  <a:srgbClr val="EFE9DE"/>
                </a:solidFill>
                <a:latin typeface="Be Vietnam"/>
                <a:ea typeface="Be Vietnam"/>
                <a:cs typeface="Be Vietnam"/>
                <a:sym typeface="Be Vietnam"/>
              </a:rPr>
              <a:t>Core Frameworks (TensorFlow)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792086" y="7793260"/>
            <a:ext cx="2966141" cy="57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2100">
                <a:solidFill>
                  <a:srgbClr val="EFE9DE"/>
                </a:solidFill>
                <a:latin typeface="Be Vietnam"/>
                <a:ea typeface="Be Vietnam"/>
                <a:cs typeface="Be Vietnam"/>
                <a:sym typeface="Be Vietnam"/>
              </a:rPr>
              <a:t>Database &amp; Cloud (Firebase)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093112" y="7793260"/>
            <a:ext cx="3151109" cy="57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2100">
                <a:solidFill>
                  <a:srgbClr val="EFE9DE"/>
                </a:solidFill>
                <a:latin typeface="Be Vietnam"/>
                <a:ea typeface="Be Vietnam"/>
                <a:cs typeface="Be Vietnam"/>
                <a:sym typeface="Be Vietnam"/>
              </a:rPr>
              <a:t>Deployment (AWS, Google Cloud)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85545" y="-495548"/>
            <a:ext cx="4130289" cy="4114800"/>
          </a:xfrm>
          <a:custGeom>
            <a:avLst/>
            <a:gdLst/>
            <a:ahLst/>
            <a:cxnLst/>
            <a:rect l="l" t="t" r="r" b="b"/>
            <a:pathLst>
              <a:path w="4130289" h="4114800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3609" y="6020155"/>
            <a:ext cx="7032523" cy="1305935"/>
            <a:chOff x="0" y="0"/>
            <a:chExt cx="2188484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88483" cy="406400"/>
            </a:xfrm>
            <a:custGeom>
              <a:avLst/>
              <a:gdLst/>
              <a:ahLst/>
              <a:cxnLst/>
              <a:rect l="l" t="t" r="r" b="b"/>
              <a:pathLst>
                <a:path w="2188483" h="406400">
                  <a:moveTo>
                    <a:pt x="1985283" y="0"/>
                  </a:moveTo>
                  <a:cubicBezTo>
                    <a:pt x="2097508" y="0"/>
                    <a:pt x="2188483" y="90976"/>
                    <a:pt x="2188483" y="203200"/>
                  </a:cubicBezTo>
                  <a:cubicBezTo>
                    <a:pt x="2188483" y="315424"/>
                    <a:pt x="2097508" y="406400"/>
                    <a:pt x="1985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88484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59813" y="6020155"/>
            <a:ext cx="7032523" cy="1305935"/>
            <a:chOff x="0" y="0"/>
            <a:chExt cx="2188484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8483" cy="406400"/>
            </a:xfrm>
            <a:custGeom>
              <a:avLst/>
              <a:gdLst/>
              <a:ahLst/>
              <a:cxnLst/>
              <a:rect l="l" t="t" r="r" b="b"/>
              <a:pathLst>
                <a:path w="2188483" h="406400">
                  <a:moveTo>
                    <a:pt x="1985283" y="0"/>
                  </a:moveTo>
                  <a:cubicBezTo>
                    <a:pt x="2097508" y="0"/>
                    <a:pt x="2188483" y="90976"/>
                    <a:pt x="2188483" y="203200"/>
                  </a:cubicBezTo>
                  <a:cubicBezTo>
                    <a:pt x="2188483" y="315424"/>
                    <a:pt x="2097508" y="406400"/>
                    <a:pt x="1985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88484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609" y="7636285"/>
            <a:ext cx="7032523" cy="1305935"/>
            <a:chOff x="0" y="0"/>
            <a:chExt cx="2188484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8483" cy="406400"/>
            </a:xfrm>
            <a:custGeom>
              <a:avLst/>
              <a:gdLst/>
              <a:ahLst/>
              <a:cxnLst/>
              <a:rect l="l" t="t" r="r" b="b"/>
              <a:pathLst>
                <a:path w="2188483" h="406400">
                  <a:moveTo>
                    <a:pt x="1985283" y="0"/>
                  </a:moveTo>
                  <a:cubicBezTo>
                    <a:pt x="2097508" y="0"/>
                    <a:pt x="2188483" y="90976"/>
                    <a:pt x="2188483" y="203200"/>
                  </a:cubicBezTo>
                  <a:cubicBezTo>
                    <a:pt x="2188483" y="315424"/>
                    <a:pt x="2097508" y="406400"/>
                    <a:pt x="1985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188484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59813" y="7636285"/>
            <a:ext cx="7032523" cy="1305935"/>
            <a:chOff x="0" y="0"/>
            <a:chExt cx="2188484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8483" cy="406400"/>
            </a:xfrm>
            <a:custGeom>
              <a:avLst/>
              <a:gdLst/>
              <a:ahLst/>
              <a:cxnLst/>
              <a:rect l="l" t="t" r="r" b="b"/>
              <a:pathLst>
                <a:path w="2188483" h="406400">
                  <a:moveTo>
                    <a:pt x="1985283" y="0"/>
                  </a:moveTo>
                  <a:cubicBezTo>
                    <a:pt x="2097508" y="0"/>
                    <a:pt x="2188483" y="90976"/>
                    <a:pt x="2188483" y="203200"/>
                  </a:cubicBezTo>
                  <a:cubicBezTo>
                    <a:pt x="2188483" y="315424"/>
                    <a:pt x="2097508" y="406400"/>
                    <a:pt x="1985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188484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5400000">
            <a:off x="2088772" y="6418381"/>
            <a:ext cx="509482" cy="509482"/>
          </a:xfrm>
          <a:custGeom>
            <a:avLst/>
            <a:gdLst/>
            <a:ahLst/>
            <a:cxnLst/>
            <a:rect l="l" t="t" r="r" b="b"/>
            <a:pathLst>
              <a:path w="509482" h="509482">
                <a:moveTo>
                  <a:pt x="0" y="0"/>
                </a:moveTo>
                <a:lnTo>
                  <a:pt x="509482" y="0"/>
                </a:lnTo>
                <a:lnTo>
                  <a:pt x="509482" y="509482"/>
                </a:lnTo>
                <a:lnTo>
                  <a:pt x="0" y="50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9944976" y="6418381"/>
            <a:ext cx="509482" cy="509482"/>
          </a:xfrm>
          <a:custGeom>
            <a:avLst/>
            <a:gdLst/>
            <a:ahLst/>
            <a:cxnLst/>
            <a:rect l="l" t="t" r="r" b="b"/>
            <a:pathLst>
              <a:path w="509482" h="509482">
                <a:moveTo>
                  <a:pt x="0" y="0"/>
                </a:moveTo>
                <a:lnTo>
                  <a:pt x="509481" y="0"/>
                </a:lnTo>
                <a:lnTo>
                  <a:pt x="509481" y="509482"/>
                </a:lnTo>
                <a:lnTo>
                  <a:pt x="0" y="50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2088772" y="8034512"/>
            <a:ext cx="509482" cy="509482"/>
          </a:xfrm>
          <a:custGeom>
            <a:avLst/>
            <a:gdLst/>
            <a:ahLst/>
            <a:cxnLst/>
            <a:rect l="l" t="t" r="r" b="b"/>
            <a:pathLst>
              <a:path w="509482" h="509482">
                <a:moveTo>
                  <a:pt x="0" y="0"/>
                </a:moveTo>
                <a:lnTo>
                  <a:pt x="509482" y="0"/>
                </a:lnTo>
                <a:lnTo>
                  <a:pt x="509482" y="509482"/>
                </a:lnTo>
                <a:lnTo>
                  <a:pt x="0" y="50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9944976" y="8034512"/>
            <a:ext cx="509482" cy="509482"/>
          </a:xfrm>
          <a:custGeom>
            <a:avLst/>
            <a:gdLst/>
            <a:ahLst/>
            <a:cxnLst/>
            <a:rect l="l" t="t" r="r" b="b"/>
            <a:pathLst>
              <a:path w="509482" h="509482">
                <a:moveTo>
                  <a:pt x="0" y="0"/>
                </a:moveTo>
                <a:lnTo>
                  <a:pt x="509481" y="0"/>
                </a:lnTo>
                <a:lnTo>
                  <a:pt x="509481" y="509482"/>
                </a:lnTo>
                <a:lnTo>
                  <a:pt x="0" y="50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 flipH="1">
            <a:off x="-2819381" y="6259241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703609" y="1743748"/>
            <a:ext cx="8496108" cy="3581082"/>
            <a:chOff x="0" y="0"/>
            <a:chExt cx="965220" cy="4068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5220" cy="406837"/>
            </a:xfrm>
            <a:custGeom>
              <a:avLst/>
              <a:gdLst/>
              <a:ahLst/>
              <a:cxnLst/>
              <a:rect l="l" t="t" r="r" b="b"/>
              <a:pathLst>
                <a:path w="965220" h="406837">
                  <a:moveTo>
                    <a:pt x="17797" y="0"/>
                  </a:moveTo>
                  <a:lnTo>
                    <a:pt x="947423" y="0"/>
                  </a:lnTo>
                  <a:cubicBezTo>
                    <a:pt x="957252" y="0"/>
                    <a:pt x="965220" y="7968"/>
                    <a:pt x="965220" y="17797"/>
                  </a:cubicBezTo>
                  <a:lnTo>
                    <a:pt x="965220" y="389040"/>
                  </a:lnTo>
                  <a:cubicBezTo>
                    <a:pt x="965220" y="393760"/>
                    <a:pt x="963345" y="398287"/>
                    <a:pt x="960007" y="401624"/>
                  </a:cubicBezTo>
                  <a:cubicBezTo>
                    <a:pt x="956670" y="404962"/>
                    <a:pt x="952143" y="406837"/>
                    <a:pt x="947423" y="406837"/>
                  </a:cubicBezTo>
                  <a:lnTo>
                    <a:pt x="17797" y="406837"/>
                  </a:lnTo>
                  <a:cubicBezTo>
                    <a:pt x="7968" y="406837"/>
                    <a:pt x="0" y="398869"/>
                    <a:pt x="0" y="389040"/>
                  </a:cubicBezTo>
                  <a:lnTo>
                    <a:pt x="0" y="17797"/>
                  </a:lnTo>
                  <a:cubicBezTo>
                    <a:pt x="0" y="13077"/>
                    <a:pt x="1875" y="8550"/>
                    <a:pt x="5213" y="5213"/>
                  </a:cubicBezTo>
                  <a:cubicBezTo>
                    <a:pt x="8550" y="1875"/>
                    <a:pt x="13077" y="0"/>
                    <a:pt x="17797" y="0"/>
                  </a:cubicBezTo>
                  <a:close/>
                </a:path>
              </a:pathLst>
            </a:custGeom>
            <a:solidFill>
              <a:srgbClr val="596D5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65220" cy="435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480147" y="1723174"/>
            <a:ext cx="5617329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APPROACH</a:t>
            </a:r>
          </a:p>
          <a:p>
            <a:pPr marL="0" lvl="0" indent="0" algn="l">
              <a:lnSpc>
                <a:spcPts val="803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USED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80147" y="4071897"/>
            <a:ext cx="6570542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Combination of these empowers efficient development of an interactive, AI-driven interview application.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58232" y="6254657"/>
            <a:ext cx="5621791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Technology Stack: Next.js, React, TailwindCSS, Python, Vapi.ai, Firebase.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11632" y="6254657"/>
            <a:ext cx="521358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Modular development with parallel frontend/backend work.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8232" y="7870788"/>
            <a:ext cx="521358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Agile iterative testing and feedback incorporation.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87832" y="7870788"/>
            <a:ext cx="521358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Cloud deployment with continuous enhancement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6146590" y="7922178"/>
            <a:ext cx="2682303" cy="2672245"/>
          </a:xfrm>
          <a:custGeom>
            <a:avLst/>
            <a:gdLst/>
            <a:ahLst/>
            <a:cxnLst/>
            <a:rect l="l" t="t" r="r" b="b"/>
            <a:pathLst>
              <a:path w="2682303" h="2672245">
                <a:moveTo>
                  <a:pt x="2682303" y="0"/>
                </a:moveTo>
                <a:lnTo>
                  <a:pt x="0" y="0"/>
                </a:lnTo>
                <a:lnTo>
                  <a:pt x="0" y="2672244"/>
                </a:lnTo>
                <a:lnTo>
                  <a:pt x="2682303" y="2672244"/>
                </a:lnTo>
                <a:lnTo>
                  <a:pt x="26823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796865" y="-659686"/>
            <a:ext cx="6545853" cy="952124"/>
          </a:xfrm>
          <a:custGeom>
            <a:avLst/>
            <a:gdLst/>
            <a:ahLst/>
            <a:cxnLst/>
            <a:rect l="l" t="t" r="r" b="b"/>
            <a:pathLst>
              <a:path w="6545853" h="952124">
                <a:moveTo>
                  <a:pt x="0" y="0"/>
                </a:moveTo>
                <a:lnTo>
                  <a:pt x="6545854" y="0"/>
                </a:lnTo>
                <a:lnTo>
                  <a:pt x="6545854" y="952124"/>
                </a:lnTo>
                <a:lnTo>
                  <a:pt x="0" y="9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63431" y="1140116"/>
            <a:ext cx="9561137" cy="173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CHALLENGES FACED AND SOLUTIONS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49807" y="3211195"/>
            <a:ext cx="1018838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This introduces the key technical and operational challenges faced during the development of the AI Voice Agent Interview Platform and highlights the effective solutions implemented to overcome them. 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2948921" y="6082666"/>
            <a:ext cx="0" cy="613534"/>
          </a:xfrm>
          <a:prstGeom prst="line">
            <a:avLst/>
          </a:prstGeom>
          <a:ln w="38100" cap="flat">
            <a:solidFill>
              <a:srgbClr val="728674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7066758" y="6082666"/>
            <a:ext cx="0" cy="613534"/>
          </a:xfrm>
          <a:prstGeom prst="line">
            <a:avLst/>
          </a:prstGeom>
          <a:ln w="38100" cap="flat">
            <a:solidFill>
              <a:srgbClr val="728674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11384460" y="6082666"/>
            <a:ext cx="0" cy="613534"/>
          </a:xfrm>
          <a:prstGeom prst="line">
            <a:avLst/>
          </a:prstGeom>
          <a:ln w="38100" cap="flat">
            <a:solidFill>
              <a:srgbClr val="728674"/>
            </a:solidFill>
            <a:prstDash val="solid"/>
            <a:headEnd type="arrow" w="med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-10799999">
            <a:off x="1028700" y="5143654"/>
            <a:ext cx="5222225" cy="939012"/>
            <a:chOff x="0" y="0"/>
            <a:chExt cx="2260155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0154" cy="406400"/>
            </a:xfrm>
            <a:custGeom>
              <a:avLst/>
              <a:gdLst/>
              <a:ahLst/>
              <a:cxnLst/>
              <a:rect l="l" t="t" r="r" b="b"/>
              <a:pathLst>
                <a:path w="2260154" h="406400">
                  <a:moveTo>
                    <a:pt x="2056954" y="0"/>
                  </a:moveTo>
                  <a:cubicBezTo>
                    <a:pt x="2169179" y="0"/>
                    <a:pt x="2260154" y="90976"/>
                    <a:pt x="2260154" y="203200"/>
                  </a:cubicBezTo>
                  <a:cubicBezTo>
                    <a:pt x="2260154" y="315424"/>
                    <a:pt x="2169179" y="406400"/>
                    <a:pt x="20569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260155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799999">
            <a:off x="4749146" y="5143654"/>
            <a:ext cx="5626051" cy="939012"/>
            <a:chOff x="0" y="0"/>
            <a:chExt cx="243492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4929" cy="406400"/>
            </a:xfrm>
            <a:custGeom>
              <a:avLst/>
              <a:gdLst/>
              <a:ahLst/>
              <a:cxnLst/>
              <a:rect l="l" t="t" r="r" b="b"/>
              <a:pathLst>
                <a:path w="2434929" h="406400">
                  <a:moveTo>
                    <a:pt x="2231729" y="0"/>
                  </a:moveTo>
                  <a:cubicBezTo>
                    <a:pt x="2343953" y="0"/>
                    <a:pt x="2434929" y="90976"/>
                    <a:pt x="2434929" y="203200"/>
                  </a:cubicBezTo>
                  <a:cubicBezTo>
                    <a:pt x="2434929" y="315424"/>
                    <a:pt x="2343953" y="406400"/>
                    <a:pt x="22317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434929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799999">
            <a:off x="8329475" y="5143500"/>
            <a:ext cx="5361868" cy="939012"/>
            <a:chOff x="0" y="0"/>
            <a:chExt cx="2320591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20591" cy="406400"/>
            </a:xfrm>
            <a:custGeom>
              <a:avLst/>
              <a:gdLst/>
              <a:ahLst/>
              <a:cxnLst/>
              <a:rect l="l" t="t" r="r" b="b"/>
              <a:pathLst>
                <a:path w="2320591" h="406400">
                  <a:moveTo>
                    <a:pt x="2117391" y="0"/>
                  </a:moveTo>
                  <a:cubicBezTo>
                    <a:pt x="2229616" y="0"/>
                    <a:pt x="2320591" y="90976"/>
                    <a:pt x="2320591" y="203200"/>
                  </a:cubicBezTo>
                  <a:cubicBezTo>
                    <a:pt x="2320591" y="315424"/>
                    <a:pt x="2229616" y="406400"/>
                    <a:pt x="21173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320591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69455" y="5360276"/>
            <a:ext cx="3230009" cy="44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3.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75229" y="5360276"/>
            <a:ext cx="3144957" cy="44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7191" y="5369801"/>
            <a:ext cx="31449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8873" y="6777991"/>
            <a:ext cx="3801594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Voice recognition accuracy improved via Vapi.ai and noise cancellation.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6447" y="6777991"/>
            <a:ext cx="3801594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Ensured real-time responses despite network delays by asynchronous API calls and caching.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83663" y="6777991"/>
            <a:ext cx="3801594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Dynamic question generation tailored by metadata tagging and AI prompts.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5392722" y="6082666"/>
            <a:ext cx="0" cy="613534"/>
          </a:xfrm>
          <a:prstGeom prst="line">
            <a:avLst/>
          </a:prstGeom>
          <a:ln w="38100" cap="flat">
            <a:solidFill>
              <a:srgbClr val="728674"/>
            </a:solidFill>
            <a:prstDash val="solid"/>
            <a:headEnd type="arrow" w="med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 rot="-10799999">
            <a:off x="12263009" y="5143500"/>
            <a:ext cx="4996291" cy="939012"/>
            <a:chOff x="0" y="0"/>
            <a:chExt cx="2162371" cy="406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62371" cy="406400"/>
            </a:xfrm>
            <a:custGeom>
              <a:avLst/>
              <a:gdLst/>
              <a:ahLst/>
              <a:cxnLst/>
              <a:rect l="l" t="t" r="r" b="b"/>
              <a:pathLst>
                <a:path w="2162371" h="406400">
                  <a:moveTo>
                    <a:pt x="1959171" y="0"/>
                  </a:moveTo>
                  <a:cubicBezTo>
                    <a:pt x="2071396" y="0"/>
                    <a:pt x="2162371" y="90976"/>
                    <a:pt x="2162371" y="203200"/>
                  </a:cubicBezTo>
                  <a:cubicBezTo>
                    <a:pt x="2162371" y="315424"/>
                    <a:pt x="2071396" y="406400"/>
                    <a:pt x="195917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D5B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162371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77717" y="5360276"/>
            <a:ext cx="3230009" cy="44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4.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91925" y="6777991"/>
            <a:ext cx="3801594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28674"/>
                </a:solidFill>
                <a:latin typeface="Be Vietnam"/>
                <a:ea typeface="Be Vietnam"/>
                <a:cs typeface="Be Vietnam"/>
                <a:sym typeface="Be Vietnam"/>
              </a:rPr>
              <a:t>Delivered clear feedback with structured reports and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62050"/>
            <a:ext cx="13648289" cy="173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99"/>
              </a:lnSpc>
            </a:pPr>
            <a:r>
              <a:rPr lang="en-US" sz="6699" b="1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PROTOTYPE IMPLEMENTATION SCREENSHOT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4305300"/>
            <a:ext cx="17259300" cy="126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7"/>
              </a:lnSpc>
              <a:spcBef>
                <a:spcPct val="0"/>
              </a:spcBef>
            </a:pPr>
            <a:r>
              <a:rPr lang="en-US" sz="3605" dirty="0">
                <a:solidFill>
                  <a:srgbClr val="728674"/>
                </a:solidFill>
                <a:latin typeface="Garet"/>
                <a:ea typeface="Garet"/>
                <a:cs typeface="Garet"/>
                <a:sym typeface="Garet"/>
              </a:rPr>
              <a:t>– </a:t>
            </a:r>
            <a:r>
              <a:rPr lang="en-US" sz="3605" u="sng" dirty="0">
                <a:solidFill>
                  <a:srgbClr val="728674"/>
                </a:solidFill>
                <a:latin typeface="Garet"/>
                <a:ea typeface="Garet"/>
                <a:cs typeface="Garet"/>
                <a:sym typeface="Garet"/>
                <a:hlinkClick r:id="rId2" tooltip="https://app.eraser.io/workspace/UPvCvAJeMHVWB950WKNU?origin=share"/>
              </a:rPr>
              <a:t>https://app.eraser.io/workspace/UPvCvAJeMHVWB950WKNU?origin=share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3835" y="4256776"/>
            <a:ext cx="7851165" cy="160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025"/>
              </a:lnSpc>
              <a:spcBef>
                <a:spcPct val="0"/>
              </a:spcBef>
            </a:pPr>
            <a:r>
              <a:rPr lang="en-US" sz="9304" b="1" dirty="0">
                <a:solidFill>
                  <a:srgbClr val="728674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653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Garet Bold</vt:lpstr>
      <vt:lpstr>Calibri</vt:lpstr>
      <vt:lpstr>Garet</vt:lpstr>
      <vt:lpstr>Be Vietnam</vt:lpstr>
      <vt:lpstr>Arial</vt:lpstr>
      <vt:lpstr>Be Vietnam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Corporative The Future of AI Presentation</dc:title>
  <cp:lastModifiedBy>MAHI PRAJAPATI</cp:lastModifiedBy>
  <cp:revision>17</cp:revision>
  <dcterms:created xsi:type="dcterms:W3CDTF">2006-08-16T00:00:00Z</dcterms:created>
  <dcterms:modified xsi:type="dcterms:W3CDTF">2025-11-11T08:02:56Z</dcterms:modified>
  <dc:identifier>DAG3vxentc0</dc:identifier>
</cp:coreProperties>
</file>